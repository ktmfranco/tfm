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Montserrat" charset="1" panose="00000500000000000000"/>
      <p:regular r:id="rId36"/>
    </p:embeddedFont>
    <p:embeddedFont>
      <p:font typeface="Montserrat Bold" charset="1" panose="00000800000000000000"/>
      <p:regular r:id="rId37"/>
    </p:embeddedFont>
    <p:embeddedFont>
      <p:font typeface="Montserrat Italics" charset="1" panose="00000500000000000000"/>
      <p:regular r:id="rId38"/>
    </p:embeddedFont>
    <p:embeddedFont>
      <p:font typeface="Montserrat Bold Italics" charset="1" panose="00000800000000000000"/>
      <p:regular r:id="rId39"/>
    </p:embeddedFont>
    <p:embeddedFont>
      <p:font typeface="Arimo" charset="1" panose="020B06040202020202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2" Target="../media/image18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jpe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jpe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4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4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4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https://explicit-content-classifier.streamlit.app" TargetMode="External" Type="http://schemas.openxmlformats.org/officeDocument/2006/relationships/hyperlink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00000">
            <a:off x="13519823" y="332277"/>
            <a:ext cx="5837977" cy="18849595"/>
          </a:xfrm>
          <a:custGeom>
            <a:avLst/>
            <a:gdLst/>
            <a:ahLst/>
            <a:cxnLst/>
            <a:rect r="r" b="b" t="t" l="l"/>
            <a:pathLst>
              <a:path h="18849595" w="5837977">
                <a:moveTo>
                  <a:pt x="0" y="0"/>
                </a:moveTo>
                <a:lnTo>
                  <a:pt x="5837977" y="0"/>
                </a:lnTo>
                <a:lnTo>
                  <a:pt x="5837977" y="18849595"/>
                </a:lnTo>
                <a:lnTo>
                  <a:pt x="0" y="18849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362850" y="1028700"/>
            <a:ext cx="9999261" cy="9999261"/>
          </a:xfrm>
          <a:custGeom>
            <a:avLst/>
            <a:gdLst/>
            <a:ahLst/>
            <a:cxnLst/>
            <a:rect r="r" b="b" t="t" l="l"/>
            <a:pathLst>
              <a:path h="9999261" w="9999261">
                <a:moveTo>
                  <a:pt x="0" y="0"/>
                </a:moveTo>
                <a:lnTo>
                  <a:pt x="9999261" y="0"/>
                </a:lnTo>
                <a:lnTo>
                  <a:pt x="9999261" y="9999261"/>
                </a:lnTo>
                <a:lnTo>
                  <a:pt x="0" y="999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700000">
            <a:off x="521329" y="-3317944"/>
            <a:ext cx="2336254" cy="7543272"/>
          </a:xfrm>
          <a:custGeom>
            <a:avLst/>
            <a:gdLst/>
            <a:ahLst/>
            <a:cxnLst/>
            <a:rect r="r" b="b" t="t" l="l"/>
            <a:pathLst>
              <a:path h="7543272" w="2336254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434583" y="-7892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147718" y="1028700"/>
            <a:ext cx="885528" cy="1022498"/>
          </a:xfrm>
          <a:custGeom>
            <a:avLst/>
            <a:gdLst/>
            <a:ahLst/>
            <a:cxnLst/>
            <a:rect r="r" b="b" t="t" l="l"/>
            <a:pathLst>
              <a:path h="1022498" w="885528">
                <a:moveTo>
                  <a:pt x="0" y="0"/>
                </a:moveTo>
                <a:lnTo>
                  <a:pt x="885528" y="0"/>
                </a:lnTo>
                <a:lnTo>
                  <a:pt x="885528" y="1022498"/>
                </a:lnTo>
                <a:lnTo>
                  <a:pt x="0" y="10224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57263" y="1319789"/>
            <a:ext cx="1972239" cy="37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1"/>
              </a:lnSpc>
            </a:pPr>
            <a:r>
              <a:rPr lang="en-US" sz="2570" spc="10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Nodd3r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902301"/>
            <a:ext cx="10901628" cy="138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4"/>
              </a:lnSpc>
            </a:pPr>
            <a:r>
              <a:rPr lang="en-US" sz="9161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final 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075987"/>
            <a:ext cx="9390212" cy="2421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77"/>
              </a:lnSpc>
            </a:pPr>
            <a:r>
              <a:rPr lang="en-US" sz="15981" spc="527" b="tru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Máster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836210"/>
            <a:ext cx="5012645" cy="42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461" spc="110" b="tru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Andrés Franco Cárdenas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6606" y="6439985"/>
            <a:ext cx="9054400" cy="212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012" spc="135" b="tru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Análisis y clasificación de contenido sensible en internet mediante Deep Learning</a:t>
            </a:r>
          </a:p>
          <a:p>
            <a:pPr algn="l">
              <a:lnSpc>
                <a:spcPts val="421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31041">
            <a:off x="13216914" y="-2949524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68074">
            <a:off x="13918097" y="4882637"/>
            <a:ext cx="8739806" cy="5324588"/>
            <a:chOff x="0" y="0"/>
            <a:chExt cx="2301842" cy="14023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1842" cy="1402361"/>
            </a:xfrm>
            <a:custGeom>
              <a:avLst/>
              <a:gdLst/>
              <a:ahLst/>
              <a:cxnLst/>
              <a:rect r="r" b="b" t="t" l="l"/>
              <a:pathLst>
                <a:path h="1402361" w="2301842">
                  <a:moveTo>
                    <a:pt x="0" y="0"/>
                  </a:moveTo>
                  <a:lnTo>
                    <a:pt x="2301842" y="0"/>
                  </a:lnTo>
                  <a:lnTo>
                    <a:pt x="2301842" y="1402361"/>
                  </a:lnTo>
                  <a:lnTo>
                    <a:pt x="0" y="1402361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01842" cy="1449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68074">
            <a:off x="15432242" y="6369777"/>
            <a:ext cx="4609127" cy="4873542"/>
            <a:chOff x="0" y="0"/>
            <a:chExt cx="1213926" cy="1283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3926" cy="1283567"/>
            </a:xfrm>
            <a:custGeom>
              <a:avLst/>
              <a:gdLst/>
              <a:ahLst/>
              <a:cxnLst/>
              <a:rect r="r" b="b" t="t" l="l"/>
              <a:pathLst>
                <a:path h="1283567" w="1213926">
                  <a:moveTo>
                    <a:pt x="0" y="0"/>
                  </a:moveTo>
                  <a:lnTo>
                    <a:pt x="1213926" y="0"/>
                  </a:lnTo>
                  <a:lnTo>
                    <a:pt x="1213926" y="1283567"/>
                  </a:lnTo>
                  <a:lnTo>
                    <a:pt x="0" y="12835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0D12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13926" cy="133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977613" y="0"/>
            <a:ext cx="7310387" cy="8224186"/>
            <a:chOff x="0" y="0"/>
            <a:chExt cx="5370413" cy="60417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A3D37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4"/>
              <a:stretch>
                <a:fillRect l="-37040" t="0" r="-3704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3044550" y="7788717"/>
            <a:ext cx="5867617" cy="5867617"/>
          </a:xfrm>
          <a:custGeom>
            <a:avLst/>
            <a:gdLst/>
            <a:ahLst/>
            <a:cxnLst/>
            <a:rect r="r" b="b" t="t" l="l"/>
            <a:pathLst>
              <a:path h="5867617" w="5867617">
                <a:moveTo>
                  <a:pt x="0" y="0"/>
                </a:moveTo>
                <a:lnTo>
                  <a:pt x="5867617" y="0"/>
                </a:lnTo>
                <a:lnTo>
                  <a:pt x="5867617" y="5867617"/>
                </a:lnTo>
                <a:lnTo>
                  <a:pt x="0" y="58676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4740713" y="2824087"/>
            <a:ext cx="6587040" cy="715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Problemática e impacto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Estado del arte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Teoría general de DL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Modelo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Entrenamiento y métricas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Conclusión </a:t>
            </a:r>
          </a:p>
          <a:p>
            <a:pPr algn="l" marL="0" indent="0" lvl="0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Trabajo futuro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1204" y="1960910"/>
            <a:ext cx="6276020" cy="107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7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Contenido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64150" y="2824087"/>
            <a:ext cx="536972" cy="715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</a:t>
            </a:r>
          </a:p>
          <a:p>
            <a:pPr algn="l" marL="0" indent="0" lvl="0">
              <a:lnSpc>
                <a:spcPts val="5770"/>
              </a:lnSpc>
            </a:pPr>
            <a:r>
              <a:rPr lang="en-US" b="true" sz="2899" spc="130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4415447" y="3101504"/>
            <a:ext cx="0" cy="6880176"/>
          </a:xfrm>
          <a:prstGeom prst="line">
            <a:avLst/>
          </a:prstGeom>
          <a:ln cap="flat" w="38100">
            <a:solidFill>
              <a:srgbClr val="052A4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868161" y="3483554"/>
            <a:ext cx="8931128" cy="46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on el avance acelerado de la IA y los nuevos métodos de generación de contenido multimedia, se han aumentado los casos de </a:t>
            </a:r>
            <a:r>
              <a:rPr lang="en-US" b="true" sz="2899" spc="130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Bulos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true" sz="2899" spc="130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fakes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true" sz="2899" spc="130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deepfakes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etc.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Estos recursos son subidos diariamente a plataformas que podrían ser sensibles para el publico o consumidas por menores de edad. 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68161" y="1887110"/>
            <a:ext cx="10349269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Problemática actual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868161" y="3005707"/>
            <a:ext cx="9215417" cy="46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La moderación automática de contenido es un tema real en internet, con fuerte impacto social y técnico, principalmente para la audiencia infantil, por ello mediante esta investigación y técnicas de redes neuronales (</a:t>
            </a:r>
            <a:r>
              <a:rPr lang="en-US" b="true" sz="2899" spc="130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NN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), queremos reducir la exposición de usuarios a contenido dañino de manera automática, antes de una revisión humana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68161" y="1887110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3280141"/>
            <a:ext cx="11756555" cy="717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spc="130" b="tru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Panorama general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La moderación de contenido en plataformas modernas es una cadena híbrida: 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Sistemas automáticos (</a:t>
            </a:r>
            <a:r>
              <a:rPr lang="en-US" sz="2899" i="true" spc="130" strike="noStrike" u="none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hashing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reglas, clasificadores ML/DL, modelos multimodales) + priorización/triage + revisión humana. 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Las empresas emplean filtros rápidos (</a:t>
            </a:r>
            <a:r>
              <a:rPr lang="en-US" sz="2899" i="true" spc="130" strike="noStrike" u="none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hashing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 para material ilegal conocido, modelos de clasificación para categorías (violencia, desnudez, drogas, armas, etc.) y sistemas de ranking/escala para decidir qué revistar manualmente o eliminar automáticamente. 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Los sistemas automáticos buscan </a:t>
            </a:r>
            <a:r>
              <a:rPr lang="en-US" b="true" sz="2899" spc="130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reducir contenido dañino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antes de la </a:t>
            </a:r>
            <a:r>
              <a:rPr lang="en-US" b="true" sz="2899" spc="130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intervención humana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71921" y="1887110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Estado del arte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08079" y="9326673"/>
            <a:ext cx="7734963" cy="6698478"/>
            <a:chOff x="0" y="0"/>
            <a:chExt cx="6350000" cy="549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5499100"/>
            </a:xfrm>
            <a:custGeom>
              <a:avLst/>
              <a:gdLst/>
              <a:ahLst/>
              <a:cxnLst/>
              <a:rect r="r" b="b" t="t" l="l"/>
              <a:pathLst>
                <a:path h="5499100" w="6350000">
                  <a:moveTo>
                    <a:pt x="4762500" y="2749550"/>
                  </a:moveTo>
                  <a:lnTo>
                    <a:pt x="3175000" y="0"/>
                  </a:lnTo>
                  <a:lnTo>
                    <a:pt x="1587500" y="2749550"/>
                  </a:lnTo>
                  <a:lnTo>
                    <a:pt x="0" y="5499100"/>
                  </a:lnTo>
                  <a:lnTo>
                    <a:pt x="6350000" y="5499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798000" y="-320672"/>
            <a:ext cx="12653343" cy="5897734"/>
          </a:xfrm>
          <a:custGeom>
            <a:avLst/>
            <a:gdLst/>
            <a:ahLst/>
            <a:cxnLst/>
            <a:rect r="r" b="b" t="t" l="l"/>
            <a:pathLst>
              <a:path h="5897734" w="12653343">
                <a:moveTo>
                  <a:pt x="0" y="0"/>
                </a:moveTo>
                <a:lnTo>
                  <a:pt x="12653343" y="0"/>
                </a:lnTo>
                <a:lnTo>
                  <a:pt x="12653343" y="5897734"/>
                </a:lnTo>
                <a:lnTo>
                  <a:pt x="0" y="5897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4545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0975661" y="1535868"/>
            <a:ext cx="6778577" cy="6778550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32644" t="0" r="-32644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10800000">
            <a:off x="-3080673" y="7603013"/>
            <a:ext cx="7102699" cy="3310574"/>
          </a:xfrm>
          <a:custGeom>
            <a:avLst/>
            <a:gdLst/>
            <a:ahLst/>
            <a:cxnLst/>
            <a:rect r="r" b="b" t="t" l="l"/>
            <a:pathLst>
              <a:path h="3310574" w="7102699">
                <a:moveTo>
                  <a:pt x="0" y="0"/>
                </a:moveTo>
                <a:lnTo>
                  <a:pt x="7102699" y="0"/>
                </a:lnTo>
                <a:lnTo>
                  <a:pt x="7102699" y="3310574"/>
                </a:lnTo>
                <a:lnTo>
                  <a:pt x="0" y="3310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4545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8408829" y="7882778"/>
            <a:ext cx="431641" cy="43164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09433" y="7882778"/>
            <a:ext cx="431641" cy="43164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07773" y="7882778"/>
            <a:ext cx="431641" cy="43164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29492" y="2336786"/>
            <a:ext cx="796850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615"/>
              </a:lnSpc>
              <a:spcBef>
                <a:spcPct val="0"/>
              </a:spcBef>
            </a:pPr>
            <a:r>
              <a:rPr lang="en-US" b="true" sz="6346" spc="22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29492" y="4188220"/>
            <a:ext cx="7835372" cy="246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3"/>
              </a:lnSpc>
              <a:spcBef>
                <a:spcPct val="0"/>
              </a:spcBef>
            </a:pPr>
            <a:r>
              <a:rPr lang="en-US" sz="2787" spc="12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Mediante la clasificación supervisada multiclase de Deep Learning, entrenar un modelo de Redes Neuronales que permita la moderación de contenido multimedia sensible o explicito.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060" r="-27959" b="-85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2280917" cy="10287000"/>
            <a:chOff x="0" y="0"/>
            <a:chExt cx="617987" cy="2787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7987" cy="2787141"/>
            </a:xfrm>
            <a:custGeom>
              <a:avLst/>
              <a:gdLst/>
              <a:ahLst/>
              <a:cxnLst/>
              <a:rect r="r" b="b" t="t" l="l"/>
              <a:pathLst>
                <a:path h="2787141" w="617987">
                  <a:moveTo>
                    <a:pt x="0" y="0"/>
                  </a:moveTo>
                  <a:lnTo>
                    <a:pt x="617987" y="0"/>
                  </a:lnTo>
                  <a:lnTo>
                    <a:pt x="617987" y="2787141"/>
                  </a:lnTo>
                  <a:lnTo>
                    <a:pt x="0" y="2787141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17987" cy="2834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62158" y="7412001"/>
            <a:ext cx="772673" cy="7726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0458" y="935743"/>
            <a:ext cx="12248420" cy="8322557"/>
            <a:chOff x="0" y="0"/>
            <a:chExt cx="1023149" cy="6952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3149" cy="695210"/>
            </a:xfrm>
            <a:custGeom>
              <a:avLst/>
              <a:gdLst/>
              <a:ahLst/>
              <a:cxnLst/>
              <a:rect r="r" b="b" t="t" l="l"/>
              <a:pathLst>
                <a:path h="695210" w="1023149">
                  <a:moveTo>
                    <a:pt x="819949" y="0"/>
                  </a:moveTo>
                  <a:lnTo>
                    <a:pt x="0" y="0"/>
                  </a:lnTo>
                  <a:lnTo>
                    <a:pt x="0" y="695210"/>
                  </a:lnTo>
                  <a:lnTo>
                    <a:pt x="819949" y="695210"/>
                  </a:lnTo>
                  <a:lnTo>
                    <a:pt x="1023149" y="347605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08849" cy="742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40486" y="1993451"/>
            <a:ext cx="8148725" cy="929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9"/>
              </a:lnSpc>
              <a:spcBef>
                <a:spcPct val="0"/>
              </a:spcBef>
            </a:pPr>
            <a:r>
              <a:rPr lang="en-US" b="true" sz="6141" spc="22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Maching Learning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27312" y="3591299"/>
            <a:ext cx="7861900" cy="131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4"/>
              </a:lnSpc>
              <a:spcBef>
                <a:spcPct val="0"/>
              </a:spcBef>
            </a:pPr>
            <a:r>
              <a:rPr lang="en-US" sz="1889" spc="85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1889" spc="85" strike="noStrike" u="non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 DL es un subconjunto del Machine Learning que utiliza redes neuronales multicapa, llamadas redes neuronales profundas, para simular el complejo poder de toma de decisiones del cerebro humano.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807149" y="3392110"/>
            <a:ext cx="441890" cy="1367718"/>
            <a:chOff x="0" y="0"/>
            <a:chExt cx="847440" cy="26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7471" cy="2622931"/>
            </a:xfrm>
            <a:custGeom>
              <a:avLst/>
              <a:gdLst/>
              <a:ahLst/>
              <a:cxnLst/>
              <a:rect r="r" b="b" t="t" l="l"/>
              <a:pathLst>
                <a:path h="2622931" w="847471">
                  <a:moveTo>
                    <a:pt x="243205" y="2622931"/>
                  </a:moveTo>
                  <a:lnTo>
                    <a:pt x="0" y="2622931"/>
                  </a:lnTo>
                  <a:lnTo>
                    <a:pt x="596646" y="1315339"/>
                  </a:lnTo>
                  <a:lnTo>
                    <a:pt x="0" y="0"/>
                  </a:lnTo>
                  <a:lnTo>
                    <a:pt x="243205" y="0"/>
                  </a:lnTo>
                  <a:lnTo>
                    <a:pt x="847471" y="1315339"/>
                  </a:lnTo>
                  <a:lnTo>
                    <a:pt x="243205" y="2622931"/>
                  </a:lnTo>
                  <a:close/>
                </a:path>
              </a:pathLst>
            </a:custGeom>
            <a:solidFill>
              <a:srgbClr val="80D12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218831" y="3392110"/>
            <a:ext cx="3241082" cy="1367718"/>
            <a:chOff x="0" y="0"/>
            <a:chExt cx="1838524" cy="7758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38524" cy="775847"/>
            </a:xfrm>
            <a:custGeom>
              <a:avLst/>
              <a:gdLst/>
              <a:ahLst/>
              <a:cxnLst/>
              <a:rect r="r" b="b" t="t" l="l"/>
              <a:pathLst>
                <a:path h="775847" w="1838524">
                  <a:moveTo>
                    <a:pt x="1635324" y="0"/>
                  </a:moveTo>
                  <a:lnTo>
                    <a:pt x="0" y="0"/>
                  </a:lnTo>
                  <a:lnTo>
                    <a:pt x="0" y="775847"/>
                  </a:lnTo>
                  <a:lnTo>
                    <a:pt x="1635324" y="775847"/>
                  </a:lnTo>
                  <a:lnTo>
                    <a:pt x="1838524" y="387923"/>
                  </a:lnTo>
                  <a:lnTo>
                    <a:pt x="1635324" y="0"/>
                  </a:lnTo>
                  <a:close/>
                </a:path>
              </a:pathLst>
            </a:custGeom>
            <a:solidFill>
              <a:srgbClr val="4DBF3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724224" cy="823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09816" y="3220660"/>
            <a:ext cx="1872263" cy="153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19"/>
              </a:lnSpc>
              <a:spcBef>
                <a:spcPct val="0"/>
              </a:spcBef>
            </a:pPr>
            <a:r>
              <a:rPr lang="en-US" b="true" sz="9013" spc="4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27312" y="3230185"/>
            <a:ext cx="4324431" cy="450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  <a:spcBef>
                <a:spcPct val="0"/>
              </a:spcBef>
            </a:pPr>
            <a:r>
              <a:rPr lang="en-US" b="true" sz="2692" spc="12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Learning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693755" y="5143500"/>
            <a:ext cx="441890" cy="1367718"/>
            <a:chOff x="0" y="0"/>
            <a:chExt cx="847440" cy="26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7471" cy="2622931"/>
            </a:xfrm>
            <a:custGeom>
              <a:avLst/>
              <a:gdLst/>
              <a:ahLst/>
              <a:cxnLst/>
              <a:rect r="r" b="b" t="t" l="l"/>
              <a:pathLst>
                <a:path h="2622931" w="847471">
                  <a:moveTo>
                    <a:pt x="243205" y="2622931"/>
                  </a:moveTo>
                  <a:lnTo>
                    <a:pt x="0" y="2622931"/>
                  </a:lnTo>
                  <a:lnTo>
                    <a:pt x="596646" y="1315339"/>
                  </a:lnTo>
                  <a:lnTo>
                    <a:pt x="0" y="0"/>
                  </a:lnTo>
                  <a:lnTo>
                    <a:pt x="243205" y="0"/>
                  </a:lnTo>
                  <a:lnTo>
                    <a:pt x="847471" y="1315339"/>
                  </a:lnTo>
                  <a:lnTo>
                    <a:pt x="243205" y="2622931"/>
                  </a:lnTo>
                  <a:close/>
                </a:path>
              </a:pathLst>
            </a:custGeom>
            <a:solidFill>
              <a:srgbClr val="80D12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-332225" y="5143500"/>
            <a:ext cx="3241082" cy="1367718"/>
            <a:chOff x="0" y="0"/>
            <a:chExt cx="1838524" cy="7758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38524" cy="775847"/>
            </a:xfrm>
            <a:custGeom>
              <a:avLst/>
              <a:gdLst/>
              <a:ahLst/>
              <a:cxnLst/>
              <a:rect r="r" b="b" t="t" l="l"/>
              <a:pathLst>
                <a:path h="775847" w="1838524">
                  <a:moveTo>
                    <a:pt x="1635324" y="0"/>
                  </a:moveTo>
                  <a:lnTo>
                    <a:pt x="0" y="0"/>
                  </a:lnTo>
                  <a:lnTo>
                    <a:pt x="0" y="775847"/>
                  </a:lnTo>
                  <a:lnTo>
                    <a:pt x="1635324" y="775847"/>
                  </a:lnTo>
                  <a:lnTo>
                    <a:pt x="1838524" y="387923"/>
                  </a:lnTo>
                  <a:lnTo>
                    <a:pt x="1635324" y="0"/>
                  </a:lnTo>
                  <a:close/>
                </a:path>
              </a:pathLst>
            </a:custGeom>
            <a:solidFill>
              <a:srgbClr val="4DBF3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724224" cy="823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96423" y="4972050"/>
            <a:ext cx="1872263" cy="153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19"/>
              </a:lnSpc>
              <a:spcBef>
                <a:spcPct val="0"/>
              </a:spcBef>
            </a:pPr>
            <a:r>
              <a:rPr lang="en-US" b="true" sz="9013" spc="4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698597" y="6892218"/>
            <a:ext cx="441890" cy="1367718"/>
            <a:chOff x="0" y="0"/>
            <a:chExt cx="847440" cy="262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7471" cy="2622931"/>
            </a:xfrm>
            <a:custGeom>
              <a:avLst/>
              <a:gdLst/>
              <a:ahLst/>
              <a:cxnLst/>
              <a:rect r="r" b="b" t="t" l="l"/>
              <a:pathLst>
                <a:path h="2622931" w="847471">
                  <a:moveTo>
                    <a:pt x="243205" y="2622931"/>
                  </a:moveTo>
                  <a:lnTo>
                    <a:pt x="0" y="2622931"/>
                  </a:lnTo>
                  <a:lnTo>
                    <a:pt x="596646" y="1315339"/>
                  </a:lnTo>
                  <a:lnTo>
                    <a:pt x="0" y="0"/>
                  </a:lnTo>
                  <a:lnTo>
                    <a:pt x="243205" y="0"/>
                  </a:lnTo>
                  <a:lnTo>
                    <a:pt x="847471" y="1315339"/>
                  </a:lnTo>
                  <a:lnTo>
                    <a:pt x="243205" y="2622931"/>
                  </a:lnTo>
                  <a:close/>
                </a:path>
              </a:pathLst>
            </a:custGeom>
            <a:solidFill>
              <a:srgbClr val="80D12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-327383" y="6892218"/>
            <a:ext cx="3241082" cy="1367718"/>
            <a:chOff x="0" y="0"/>
            <a:chExt cx="1838524" cy="7758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38524" cy="775847"/>
            </a:xfrm>
            <a:custGeom>
              <a:avLst/>
              <a:gdLst/>
              <a:ahLst/>
              <a:cxnLst/>
              <a:rect r="r" b="b" t="t" l="l"/>
              <a:pathLst>
                <a:path h="775847" w="1838524">
                  <a:moveTo>
                    <a:pt x="1635324" y="0"/>
                  </a:moveTo>
                  <a:lnTo>
                    <a:pt x="0" y="0"/>
                  </a:lnTo>
                  <a:lnTo>
                    <a:pt x="0" y="775847"/>
                  </a:lnTo>
                  <a:lnTo>
                    <a:pt x="1635324" y="775847"/>
                  </a:lnTo>
                  <a:lnTo>
                    <a:pt x="1838524" y="387923"/>
                  </a:lnTo>
                  <a:lnTo>
                    <a:pt x="1635324" y="0"/>
                  </a:lnTo>
                  <a:close/>
                </a:path>
              </a:pathLst>
            </a:custGeom>
            <a:solidFill>
              <a:srgbClr val="4DBF3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724224" cy="823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01264" y="6720768"/>
            <a:ext cx="1872263" cy="153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19"/>
              </a:lnSpc>
              <a:spcBef>
                <a:spcPct val="0"/>
              </a:spcBef>
            </a:pPr>
            <a:r>
              <a:rPr lang="en-US" b="true" sz="9013" spc="4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27312" y="5364581"/>
            <a:ext cx="8537115" cy="131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4"/>
              </a:lnSpc>
              <a:spcBef>
                <a:spcPct val="0"/>
              </a:spcBef>
            </a:pPr>
            <a:r>
              <a:rPr lang="en-US" sz="1889" spc="85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Una NN</a:t>
            </a:r>
            <a:r>
              <a:rPr lang="en-US" sz="1889" spc="85" strike="noStrike" u="non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 es un programa o modelo de ML que toma decisiones de forma similar al cerebro humano, emplean procesos que imitan la forma en que las neuronas biológicas trabajan juntas para identificar fenómenos, sopesar opciones y llegar a conclusiones.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27312" y="5003467"/>
            <a:ext cx="4884662" cy="450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  <a:spcBef>
                <a:spcPct val="0"/>
              </a:spcBef>
            </a:pPr>
            <a:r>
              <a:rPr lang="en-US" b="true" sz="2692" spc="12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Redes Neuronales (NN)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27312" y="7144499"/>
            <a:ext cx="7749724" cy="165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4"/>
              </a:lnSpc>
              <a:spcBef>
                <a:spcPct val="0"/>
              </a:spcBef>
            </a:pPr>
            <a:r>
              <a:rPr lang="en-US" sz="1889" spc="85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CV </a:t>
            </a:r>
            <a:r>
              <a:rPr lang="en-US" sz="1889" spc="85" strike="noStrike" u="non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es una rama de la IA que enseña a las máquinas a interpretar y analizar datos visuales (</a:t>
            </a:r>
            <a:r>
              <a:rPr lang="en-US" b="true" sz="1889" spc="85" strike="noStrike" u="non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imágenes y videos</a:t>
            </a:r>
            <a:r>
              <a:rPr lang="en-US" sz="1889" spc="85" strike="noStrike" u="non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) para entender el mundo, replicando la visión humana, usando técnicas como el DL para reconocer objetos, personas, escenas y patrones.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27312" y="6730293"/>
            <a:ext cx="8537115" cy="450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  <a:spcBef>
                <a:spcPct val="0"/>
              </a:spcBef>
            </a:pPr>
            <a:r>
              <a:rPr lang="en-US" b="true" sz="2692" spc="12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Computer Vision (Visión por Computadora)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53739"/>
            <a:chOff x="0" y="0"/>
            <a:chExt cx="4816593" cy="1067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67651"/>
            </a:xfrm>
            <a:custGeom>
              <a:avLst/>
              <a:gdLst/>
              <a:ahLst/>
              <a:cxnLst/>
              <a:rect r="r" b="b" t="t" l="l"/>
              <a:pathLst>
                <a:path h="10676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67651"/>
                  </a:lnTo>
                  <a:lnTo>
                    <a:pt x="0" y="1067651"/>
                  </a:lnTo>
                  <a:close/>
                </a:path>
              </a:pathLst>
            </a:custGeom>
            <a:solidFill>
              <a:srgbClr val="05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15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4053739"/>
          </a:xfrm>
          <a:custGeom>
            <a:avLst/>
            <a:gdLst/>
            <a:ahLst/>
            <a:cxnLst/>
            <a:rect r="r" b="b" t="t" l="l"/>
            <a:pathLst>
              <a:path h="4053739" w="18288000">
                <a:moveTo>
                  <a:pt x="0" y="0"/>
                </a:moveTo>
                <a:lnTo>
                  <a:pt x="18288000" y="0"/>
                </a:lnTo>
                <a:lnTo>
                  <a:pt x="18288000" y="4053739"/>
                </a:lnTo>
                <a:lnTo>
                  <a:pt x="0" y="4053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-25349" r="0" b="-17522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96611" y="2128857"/>
            <a:ext cx="9500456" cy="102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10"/>
              </a:lnSpc>
              <a:spcBef>
                <a:spcPct val="0"/>
              </a:spcBef>
            </a:pPr>
            <a:r>
              <a:rPr lang="en-US" b="true" sz="6675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Contenido Explícito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74818" y="-2586212"/>
            <a:ext cx="9619282" cy="5963955"/>
          </a:xfrm>
          <a:custGeom>
            <a:avLst/>
            <a:gdLst/>
            <a:ahLst/>
            <a:cxnLst/>
            <a:rect r="r" b="b" t="t" l="l"/>
            <a:pathLst>
              <a:path h="5963955" w="9619282">
                <a:moveTo>
                  <a:pt x="0" y="0"/>
                </a:moveTo>
                <a:lnTo>
                  <a:pt x="9619282" y="0"/>
                </a:lnTo>
                <a:lnTo>
                  <a:pt x="9619282" y="5963954"/>
                </a:lnTo>
                <a:lnTo>
                  <a:pt x="0" y="5963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923858" y="5885310"/>
            <a:ext cx="3086100" cy="516103"/>
            <a:chOff x="0" y="0"/>
            <a:chExt cx="812800" cy="1359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35928"/>
            </a:xfrm>
            <a:custGeom>
              <a:avLst/>
              <a:gdLst/>
              <a:ahLst/>
              <a:cxnLst/>
              <a:rect r="r" b="b" t="t" l="l"/>
              <a:pathLst>
                <a:path h="135928" w="812800">
                  <a:moveTo>
                    <a:pt x="67964" y="0"/>
                  </a:moveTo>
                  <a:lnTo>
                    <a:pt x="744836" y="0"/>
                  </a:lnTo>
                  <a:cubicBezTo>
                    <a:pt x="782371" y="0"/>
                    <a:pt x="812800" y="30429"/>
                    <a:pt x="812800" y="67964"/>
                  </a:cubicBezTo>
                  <a:lnTo>
                    <a:pt x="812800" y="67964"/>
                  </a:lnTo>
                  <a:cubicBezTo>
                    <a:pt x="812800" y="85989"/>
                    <a:pt x="805640" y="103276"/>
                    <a:pt x="792894" y="116022"/>
                  </a:cubicBezTo>
                  <a:cubicBezTo>
                    <a:pt x="780148" y="128768"/>
                    <a:pt x="762861" y="135928"/>
                    <a:pt x="744836" y="135928"/>
                  </a:cubicBezTo>
                  <a:lnTo>
                    <a:pt x="67964" y="135928"/>
                  </a:lnTo>
                  <a:cubicBezTo>
                    <a:pt x="30429" y="135928"/>
                    <a:pt x="0" y="105500"/>
                    <a:pt x="0" y="67964"/>
                  </a:cubicBezTo>
                  <a:lnTo>
                    <a:pt x="0" y="67964"/>
                  </a:lnTo>
                  <a:cubicBezTo>
                    <a:pt x="0" y="30429"/>
                    <a:pt x="30429" y="0"/>
                    <a:pt x="679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52A47">
                    <a:alpha val="100000"/>
                  </a:srgbClr>
                </a:gs>
                <a:gs pos="50000">
                  <a:srgbClr val="052A47">
                    <a:alpha val="100000"/>
                  </a:srgbClr>
                </a:gs>
                <a:gs pos="100000">
                  <a:srgbClr val="477596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12800" cy="15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Sexual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906" y="5885310"/>
            <a:ext cx="3086100" cy="516103"/>
            <a:chOff x="0" y="0"/>
            <a:chExt cx="812800" cy="1359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35928"/>
            </a:xfrm>
            <a:custGeom>
              <a:avLst/>
              <a:gdLst/>
              <a:ahLst/>
              <a:cxnLst/>
              <a:rect r="r" b="b" t="t" l="l"/>
              <a:pathLst>
                <a:path h="135928" w="812800">
                  <a:moveTo>
                    <a:pt x="67964" y="0"/>
                  </a:moveTo>
                  <a:lnTo>
                    <a:pt x="744836" y="0"/>
                  </a:lnTo>
                  <a:cubicBezTo>
                    <a:pt x="782371" y="0"/>
                    <a:pt x="812800" y="30429"/>
                    <a:pt x="812800" y="67964"/>
                  </a:cubicBezTo>
                  <a:lnTo>
                    <a:pt x="812800" y="67964"/>
                  </a:lnTo>
                  <a:cubicBezTo>
                    <a:pt x="812800" y="85989"/>
                    <a:pt x="805640" y="103276"/>
                    <a:pt x="792894" y="116022"/>
                  </a:cubicBezTo>
                  <a:cubicBezTo>
                    <a:pt x="780148" y="128768"/>
                    <a:pt x="762861" y="135928"/>
                    <a:pt x="744836" y="135928"/>
                  </a:cubicBezTo>
                  <a:lnTo>
                    <a:pt x="67964" y="135928"/>
                  </a:lnTo>
                  <a:cubicBezTo>
                    <a:pt x="30429" y="135928"/>
                    <a:pt x="0" y="105500"/>
                    <a:pt x="0" y="67964"/>
                  </a:cubicBezTo>
                  <a:lnTo>
                    <a:pt x="0" y="67964"/>
                  </a:lnTo>
                  <a:cubicBezTo>
                    <a:pt x="0" y="30429"/>
                    <a:pt x="30429" y="0"/>
                    <a:pt x="679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52A47">
                    <a:alpha val="100000"/>
                  </a:srgbClr>
                </a:gs>
                <a:gs pos="50000">
                  <a:srgbClr val="052A47">
                    <a:alpha val="100000"/>
                  </a:srgbClr>
                </a:gs>
                <a:gs pos="100000">
                  <a:srgbClr val="477596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12800" cy="15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Violencia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6856" y="5885310"/>
            <a:ext cx="3086100" cy="516103"/>
            <a:chOff x="0" y="0"/>
            <a:chExt cx="812800" cy="1359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35928"/>
            </a:xfrm>
            <a:custGeom>
              <a:avLst/>
              <a:gdLst/>
              <a:ahLst/>
              <a:cxnLst/>
              <a:rect r="r" b="b" t="t" l="l"/>
              <a:pathLst>
                <a:path h="135928" w="812800">
                  <a:moveTo>
                    <a:pt x="67964" y="0"/>
                  </a:moveTo>
                  <a:lnTo>
                    <a:pt x="744836" y="0"/>
                  </a:lnTo>
                  <a:cubicBezTo>
                    <a:pt x="782371" y="0"/>
                    <a:pt x="812800" y="30429"/>
                    <a:pt x="812800" y="67964"/>
                  </a:cubicBezTo>
                  <a:lnTo>
                    <a:pt x="812800" y="67964"/>
                  </a:lnTo>
                  <a:cubicBezTo>
                    <a:pt x="812800" y="85989"/>
                    <a:pt x="805640" y="103276"/>
                    <a:pt x="792894" y="116022"/>
                  </a:cubicBezTo>
                  <a:cubicBezTo>
                    <a:pt x="780148" y="128768"/>
                    <a:pt x="762861" y="135928"/>
                    <a:pt x="744836" y="135928"/>
                  </a:cubicBezTo>
                  <a:lnTo>
                    <a:pt x="67964" y="135928"/>
                  </a:lnTo>
                  <a:cubicBezTo>
                    <a:pt x="30429" y="135928"/>
                    <a:pt x="0" y="105500"/>
                    <a:pt x="0" y="67964"/>
                  </a:cubicBezTo>
                  <a:lnTo>
                    <a:pt x="0" y="67964"/>
                  </a:lnTo>
                  <a:cubicBezTo>
                    <a:pt x="0" y="30429"/>
                    <a:pt x="30429" y="0"/>
                    <a:pt x="679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52A47">
                    <a:alpha val="100000"/>
                  </a:srgbClr>
                </a:gs>
                <a:gs pos="50000">
                  <a:srgbClr val="052A47">
                    <a:alpha val="100000"/>
                  </a:srgbClr>
                </a:gs>
                <a:gs pos="100000">
                  <a:srgbClr val="477596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12800" cy="15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Drogas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97806" y="5885310"/>
            <a:ext cx="3086100" cy="516103"/>
            <a:chOff x="0" y="0"/>
            <a:chExt cx="812800" cy="1359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35928"/>
            </a:xfrm>
            <a:custGeom>
              <a:avLst/>
              <a:gdLst/>
              <a:ahLst/>
              <a:cxnLst/>
              <a:rect r="r" b="b" t="t" l="l"/>
              <a:pathLst>
                <a:path h="135928" w="812800">
                  <a:moveTo>
                    <a:pt x="67964" y="0"/>
                  </a:moveTo>
                  <a:lnTo>
                    <a:pt x="744836" y="0"/>
                  </a:lnTo>
                  <a:cubicBezTo>
                    <a:pt x="782371" y="0"/>
                    <a:pt x="812800" y="30429"/>
                    <a:pt x="812800" y="67964"/>
                  </a:cubicBezTo>
                  <a:lnTo>
                    <a:pt x="812800" y="67964"/>
                  </a:lnTo>
                  <a:cubicBezTo>
                    <a:pt x="812800" y="85989"/>
                    <a:pt x="805640" y="103276"/>
                    <a:pt x="792894" y="116022"/>
                  </a:cubicBezTo>
                  <a:cubicBezTo>
                    <a:pt x="780148" y="128768"/>
                    <a:pt x="762861" y="135928"/>
                    <a:pt x="744836" y="135928"/>
                  </a:cubicBezTo>
                  <a:lnTo>
                    <a:pt x="67964" y="135928"/>
                  </a:lnTo>
                  <a:cubicBezTo>
                    <a:pt x="30429" y="135928"/>
                    <a:pt x="0" y="105500"/>
                    <a:pt x="0" y="67964"/>
                  </a:cubicBezTo>
                  <a:lnTo>
                    <a:pt x="0" y="67964"/>
                  </a:lnTo>
                  <a:cubicBezTo>
                    <a:pt x="0" y="30429"/>
                    <a:pt x="30429" y="0"/>
                    <a:pt x="679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52A47">
                    <a:alpha val="100000"/>
                  </a:srgbClr>
                </a:gs>
                <a:gs pos="50000">
                  <a:srgbClr val="052A47">
                    <a:alpha val="100000"/>
                  </a:srgbClr>
                </a:gs>
                <a:gs pos="100000">
                  <a:srgbClr val="477596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812800" cy="15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Armamento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345096" y="-1016743"/>
            <a:ext cx="5903940" cy="3660443"/>
          </a:xfrm>
          <a:custGeom>
            <a:avLst/>
            <a:gdLst/>
            <a:ahLst/>
            <a:cxnLst/>
            <a:rect r="r" b="b" t="t" l="l"/>
            <a:pathLst>
              <a:path h="3660443" w="5903940">
                <a:moveTo>
                  <a:pt x="0" y="0"/>
                </a:moveTo>
                <a:lnTo>
                  <a:pt x="5903940" y="0"/>
                </a:lnTo>
                <a:lnTo>
                  <a:pt x="5903940" y="3660443"/>
                </a:lnTo>
                <a:lnTo>
                  <a:pt x="0" y="3660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1904094" y="6600914"/>
            <a:ext cx="3105864" cy="225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Pornografía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Pedofilia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Juguetes eróticos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Animaciones para adultos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Desnudos</a:t>
            </a:r>
          </a:p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696142" y="6600914"/>
            <a:ext cx="3105864" cy="258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Acoso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Maltrato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Peleas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Tortura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Violaciones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Muertes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Asesinatos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Heridos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06856" y="6600914"/>
            <a:ext cx="3186210" cy="290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Estupefacientes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Drogas/Drogadictos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Drogas recreativas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Cultivos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Producción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Promoción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Incitación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Consumo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Tráfico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78042" y="6600914"/>
            <a:ext cx="3105864" cy="322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Guerra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Soldados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Policías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Armamento bélico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Aviones militares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Armas blancas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Armas antiguas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Destrucción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Bombas</a:t>
            </a:r>
          </a:p>
          <a:p>
            <a:pPr algn="l" marL="399406" indent="-199703" lvl="1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Explosivos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3062244" y="4678836"/>
            <a:ext cx="809327" cy="978307"/>
          </a:xfrm>
          <a:custGeom>
            <a:avLst/>
            <a:gdLst/>
            <a:ahLst/>
            <a:cxnLst/>
            <a:rect r="r" b="b" t="t" l="l"/>
            <a:pathLst>
              <a:path h="978307" w="809327">
                <a:moveTo>
                  <a:pt x="0" y="0"/>
                </a:moveTo>
                <a:lnTo>
                  <a:pt x="809327" y="0"/>
                </a:lnTo>
                <a:lnTo>
                  <a:pt x="809327" y="978307"/>
                </a:lnTo>
                <a:lnTo>
                  <a:pt x="0" y="9783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609917" y="4607865"/>
            <a:ext cx="1076240" cy="1048845"/>
          </a:xfrm>
          <a:custGeom>
            <a:avLst/>
            <a:gdLst/>
            <a:ahLst/>
            <a:cxnLst/>
            <a:rect r="r" b="b" t="t" l="l"/>
            <a:pathLst>
              <a:path h="1048845" w="1076240">
                <a:moveTo>
                  <a:pt x="0" y="0"/>
                </a:moveTo>
                <a:lnTo>
                  <a:pt x="1076240" y="0"/>
                </a:lnTo>
                <a:lnTo>
                  <a:pt x="1076240" y="1048845"/>
                </a:lnTo>
                <a:lnTo>
                  <a:pt x="0" y="10488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344021" y="4653892"/>
            <a:ext cx="993670" cy="979217"/>
          </a:xfrm>
          <a:custGeom>
            <a:avLst/>
            <a:gdLst/>
            <a:ahLst/>
            <a:cxnLst/>
            <a:rect r="r" b="b" t="t" l="l"/>
            <a:pathLst>
              <a:path h="979217" w="993670">
                <a:moveTo>
                  <a:pt x="0" y="0"/>
                </a:moveTo>
                <a:lnTo>
                  <a:pt x="993670" y="0"/>
                </a:lnTo>
                <a:lnTo>
                  <a:pt x="993670" y="979216"/>
                </a:lnTo>
                <a:lnTo>
                  <a:pt x="0" y="9792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695111" y="4664746"/>
            <a:ext cx="639956" cy="953864"/>
          </a:xfrm>
          <a:custGeom>
            <a:avLst/>
            <a:gdLst/>
            <a:ahLst/>
            <a:cxnLst/>
            <a:rect r="r" b="b" t="t" l="l"/>
            <a:pathLst>
              <a:path h="953864" w="639956">
                <a:moveTo>
                  <a:pt x="0" y="0"/>
                </a:moveTo>
                <a:lnTo>
                  <a:pt x="639956" y="0"/>
                </a:lnTo>
                <a:lnTo>
                  <a:pt x="639956" y="953864"/>
                </a:lnTo>
                <a:lnTo>
                  <a:pt x="0" y="9538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868161" y="4034407"/>
            <a:ext cx="8931128" cy="254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Pocos repositorios privados (limitaciones)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Roboflow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kaggle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Paginas de pornografía (web scrapping)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8161" y="1887110"/>
            <a:ext cx="10542861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Oringen de los datos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11800" y="2073470"/>
            <a:ext cx="9535176" cy="70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13"/>
              </a:lnSpc>
              <a:spcBef>
                <a:spcPct val="0"/>
              </a:spcBef>
            </a:pPr>
            <a:r>
              <a:rPr lang="en-US" b="true" sz="4678" spc="16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Clasificación de contenido</a:t>
            </a:r>
          </a:p>
        </p:txBody>
      </p:sp>
      <p:sp>
        <p:nvSpPr>
          <p:cNvPr name="AutoShape 3" id="3"/>
          <p:cNvSpPr/>
          <p:nvPr/>
        </p:nvSpPr>
        <p:spPr>
          <a:xfrm>
            <a:off x="2239303" y="6265639"/>
            <a:ext cx="13687693" cy="0"/>
          </a:xfrm>
          <a:prstGeom prst="line">
            <a:avLst/>
          </a:prstGeom>
          <a:ln cap="rnd" w="76200">
            <a:solidFill>
              <a:srgbClr val="051D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9317080">
            <a:off x="1228356" y="3328978"/>
            <a:ext cx="2452540" cy="2540295"/>
          </a:xfrm>
          <a:custGeom>
            <a:avLst/>
            <a:gdLst/>
            <a:ahLst/>
            <a:cxnLst/>
            <a:rect r="r" b="b" t="t" l="l"/>
            <a:pathLst>
              <a:path h="2540295" w="2452540">
                <a:moveTo>
                  <a:pt x="0" y="0"/>
                </a:moveTo>
                <a:lnTo>
                  <a:pt x="2452539" y="0"/>
                </a:lnTo>
                <a:lnTo>
                  <a:pt x="2452539" y="2540295"/>
                </a:lnTo>
                <a:lnTo>
                  <a:pt x="0" y="2540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01203" y="6093749"/>
            <a:ext cx="343780" cy="3437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9317080">
            <a:off x="3886965" y="3328978"/>
            <a:ext cx="2452540" cy="2540295"/>
          </a:xfrm>
          <a:custGeom>
            <a:avLst/>
            <a:gdLst/>
            <a:ahLst/>
            <a:cxnLst/>
            <a:rect r="r" b="b" t="t" l="l"/>
            <a:pathLst>
              <a:path h="2540295" w="2452540">
                <a:moveTo>
                  <a:pt x="0" y="0"/>
                </a:moveTo>
                <a:lnTo>
                  <a:pt x="2452539" y="0"/>
                </a:lnTo>
                <a:lnTo>
                  <a:pt x="2452539" y="2540295"/>
                </a:lnTo>
                <a:lnTo>
                  <a:pt x="0" y="2540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874669" y="6093749"/>
            <a:ext cx="343780" cy="3437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9317080">
            <a:off x="6589680" y="3328978"/>
            <a:ext cx="2452540" cy="2540295"/>
          </a:xfrm>
          <a:custGeom>
            <a:avLst/>
            <a:gdLst/>
            <a:ahLst/>
            <a:cxnLst/>
            <a:rect r="r" b="b" t="t" l="l"/>
            <a:pathLst>
              <a:path h="2540295" w="2452540">
                <a:moveTo>
                  <a:pt x="0" y="0"/>
                </a:moveTo>
                <a:lnTo>
                  <a:pt x="2452540" y="0"/>
                </a:lnTo>
                <a:lnTo>
                  <a:pt x="2452540" y="2540295"/>
                </a:lnTo>
                <a:lnTo>
                  <a:pt x="0" y="2540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580878" y="6093749"/>
            <a:ext cx="343780" cy="3437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9317080">
            <a:off x="9322688" y="3328978"/>
            <a:ext cx="2452540" cy="2540295"/>
          </a:xfrm>
          <a:custGeom>
            <a:avLst/>
            <a:gdLst/>
            <a:ahLst/>
            <a:cxnLst/>
            <a:rect r="r" b="b" t="t" l="l"/>
            <a:pathLst>
              <a:path h="2540295" w="2452540">
                <a:moveTo>
                  <a:pt x="0" y="0"/>
                </a:moveTo>
                <a:lnTo>
                  <a:pt x="2452540" y="0"/>
                </a:lnTo>
                <a:lnTo>
                  <a:pt x="2452540" y="2540295"/>
                </a:lnTo>
                <a:lnTo>
                  <a:pt x="0" y="2540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306021" y="6093749"/>
            <a:ext cx="343780" cy="34378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9317080">
            <a:off x="12046682" y="3328978"/>
            <a:ext cx="2452540" cy="2540295"/>
          </a:xfrm>
          <a:custGeom>
            <a:avLst/>
            <a:gdLst/>
            <a:ahLst/>
            <a:cxnLst/>
            <a:rect r="r" b="b" t="t" l="l"/>
            <a:pathLst>
              <a:path h="2540295" w="2452540">
                <a:moveTo>
                  <a:pt x="0" y="0"/>
                </a:moveTo>
                <a:lnTo>
                  <a:pt x="2452540" y="0"/>
                </a:lnTo>
                <a:lnTo>
                  <a:pt x="2452540" y="2540295"/>
                </a:lnTo>
                <a:lnTo>
                  <a:pt x="0" y="2540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3045941" y="6093749"/>
            <a:ext cx="343780" cy="34378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523909" y="6579982"/>
            <a:ext cx="1804284" cy="46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SEXUAL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53078" y="6579982"/>
            <a:ext cx="2206013" cy="46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VIOLENCIA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85233" y="6579982"/>
            <a:ext cx="1804284" cy="46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DROGAS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08278" y="6579982"/>
            <a:ext cx="2768435" cy="46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ARMAMENTO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25214" y="6579982"/>
            <a:ext cx="1804284" cy="46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GUERRA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-520028" y="9258300"/>
            <a:ext cx="19917660" cy="3086100"/>
            <a:chOff x="0" y="0"/>
            <a:chExt cx="5245803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-2733509" y="-1612398"/>
            <a:ext cx="6449593" cy="3224796"/>
            <a:chOff x="0" y="0"/>
            <a:chExt cx="812800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016735" y="4528595"/>
            <a:ext cx="712715" cy="45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678649" y="4528595"/>
            <a:ext cx="712715" cy="45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96410" y="4494728"/>
            <a:ext cx="712715" cy="45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089600" y="4541975"/>
            <a:ext cx="712715" cy="45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36391" y="4541975"/>
            <a:ext cx="712715" cy="45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-9317080">
            <a:off x="14729837" y="3338503"/>
            <a:ext cx="2452540" cy="2540295"/>
          </a:xfrm>
          <a:custGeom>
            <a:avLst/>
            <a:gdLst/>
            <a:ahLst/>
            <a:cxnLst/>
            <a:rect r="r" b="b" t="t" l="l"/>
            <a:pathLst>
              <a:path h="2540295" w="2452540">
                <a:moveTo>
                  <a:pt x="0" y="0"/>
                </a:moveTo>
                <a:lnTo>
                  <a:pt x="2452539" y="0"/>
                </a:lnTo>
                <a:lnTo>
                  <a:pt x="2452539" y="2540295"/>
                </a:lnTo>
                <a:lnTo>
                  <a:pt x="0" y="2540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5508502" y="4551500"/>
            <a:ext cx="712715" cy="45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5707481" y="6103274"/>
            <a:ext cx="343780" cy="343780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5083050" y="6579982"/>
            <a:ext cx="1804284" cy="46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0"/>
              </a:lnSpc>
              <a:spcBef>
                <a:spcPct val="0"/>
              </a:spcBef>
            </a:pPr>
            <a:r>
              <a:rPr lang="en-US" b="true" sz="2671" spc="12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50411" y="7166311"/>
            <a:ext cx="1845365" cy="24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4"/>
              </a:lnSpc>
              <a:spcBef>
                <a:spcPct val="0"/>
              </a:spcBef>
            </a:pPr>
            <a:r>
              <a:rPr lang="en-US" sz="1452" spc="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SEXUAL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133402" y="7166311"/>
            <a:ext cx="1845365" cy="24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4"/>
              </a:lnSpc>
              <a:spcBef>
                <a:spcPct val="0"/>
              </a:spcBef>
            </a:pPr>
            <a:r>
              <a:rPr lang="en-US" sz="1452" spc="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VIOLENCE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928814" y="7166311"/>
            <a:ext cx="1845365" cy="24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4"/>
              </a:lnSpc>
              <a:spcBef>
                <a:spcPct val="0"/>
              </a:spcBef>
            </a:pPr>
            <a:r>
              <a:rPr lang="en-US" sz="1452" spc="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DRUGS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576976" y="7166311"/>
            <a:ext cx="1845365" cy="24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4"/>
              </a:lnSpc>
              <a:spcBef>
                <a:spcPct val="0"/>
              </a:spcBef>
            </a:pPr>
            <a:r>
              <a:rPr lang="en-US" sz="1452" spc="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WEAPONSE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270066" y="7166311"/>
            <a:ext cx="1845365" cy="24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4"/>
              </a:lnSpc>
              <a:spcBef>
                <a:spcPct val="0"/>
              </a:spcBef>
            </a:pPr>
            <a:r>
              <a:rPr lang="en-US" sz="1452" spc="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WAR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956688" y="7166311"/>
            <a:ext cx="1845365" cy="24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4"/>
              </a:lnSpc>
              <a:spcBef>
                <a:spcPct val="0"/>
              </a:spcBef>
            </a:pPr>
            <a:r>
              <a:rPr lang="en-US" sz="1452" spc="65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SAFE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3660549"/>
            <a:ext cx="10575403" cy="6160172"/>
          </a:xfrm>
          <a:custGeom>
            <a:avLst/>
            <a:gdLst/>
            <a:ahLst/>
            <a:cxnLst/>
            <a:rect r="r" b="b" t="t" l="l"/>
            <a:pathLst>
              <a:path h="6160172" w="10575403">
                <a:moveTo>
                  <a:pt x="0" y="0"/>
                </a:moveTo>
                <a:lnTo>
                  <a:pt x="10575403" y="0"/>
                </a:lnTo>
                <a:lnTo>
                  <a:pt x="10575403" y="6160173"/>
                </a:lnTo>
                <a:lnTo>
                  <a:pt x="0" y="61601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68161" y="1887110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7626" y="3462815"/>
            <a:ext cx="613111" cy="532663"/>
            <a:chOff x="0" y="0"/>
            <a:chExt cx="139501" cy="121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501" cy="121196"/>
            </a:xfrm>
            <a:custGeom>
              <a:avLst/>
              <a:gdLst/>
              <a:ahLst/>
              <a:cxnLst/>
              <a:rect r="r" b="b" t="t" l="l"/>
              <a:pathLst>
                <a:path h="121196" w="139501">
                  <a:moveTo>
                    <a:pt x="0" y="0"/>
                  </a:moveTo>
                  <a:lnTo>
                    <a:pt x="139501" y="0"/>
                  </a:lnTo>
                  <a:lnTo>
                    <a:pt x="139501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9501" cy="15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95777" y="876348"/>
            <a:ext cx="8476683" cy="8473151"/>
          </a:xfrm>
          <a:custGeom>
            <a:avLst/>
            <a:gdLst/>
            <a:ahLst/>
            <a:cxnLst/>
            <a:rect r="r" b="b" t="t" l="l"/>
            <a:pathLst>
              <a:path h="8473151" w="8476683">
                <a:moveTo>
                  <a:pt x="0" y="0"/>
                </a:moveTo>
                <a:lnTo>
                  <a:pt x="8476683" y="0"/>
                </a:lnTo>
                <a:lnTo>
                  <a:pt x="8476683" y="8473151"/>
                </a:lnTo>
                <a:lnTo>
                  <a:pt x="0" y="8473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955786" y="-254854"/>
            <a:ext cx="4632524" cy="10815226"/>
            <a:chOff x="0" y="0"/>
            <a:chExt cx="1220089" cy="28484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0089" cy="2848455"/>
            </a:xfrm>
            <a:custGeom>
              <a:avLst/>
              <a:gdLst/>
              <a:ahLst/>
              <a:cxnLst/>
              <a:rect r="r" b="b" t="t" l="l"/>
              <a:pathLst>
                <a:path h="2848455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369574" y="8009482"/>
            <a:ext cx="7292928" cy="729292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64184" y="1611432"/>
            <a:ext cx="8133215" cy="76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42"/>
              </a:lnSpc>
              <a:spcBef>
                <a:spcPct val="0"/>
              </a:spcBef>
            </a:pPr>
            <a:r>
              <a:rPr lang="en-US" b="true" sz="5035" spc="18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del Dataset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056178" y="-3901318"/>
            <a:ext cx="7292928" cy="729292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62527" y="1611432"/>
            <a:ext cx="7045278" cy="7045250"/>
            <a:chOff x="0" y="0"/>
            <a:chExt cx="6350000" cy="63499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5400000">
            <a:off x="11952046" y="3265440"/>
            <a:ext cx="7715094" cy="3707614"/>
          </a:xfrm>
          <a:custGeom>
            <a:avLst/>
            <a:gdLst/>
            <a:ahLst/>
            <a:cxnLst/>
            <a:rect r="r" b="b" t="t" l="l"/>
            <a:pathLst>
              <a:path h="3707614" w="771509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935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2326667" y="2554436"/>
            <a:ext cx="6901554" cy="280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b="true" sz="2032" spc="4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sexual/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frames/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frame_video_01.jpg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frame_video_02.jpg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frame_video_03.jpg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imagen_01.jpg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video_01.mp4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577626" y="6230599"/>
            <a:ext cx="613111" cy="532663"/>
            <a:chOff x="0" y="0"/>
            <a:chExt cx="139501" cy="1211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501" cy="121196"/>
            </a:xfrm>
            <a:custGeom>
              <a:avLst/>
              <a:gdLst/>
              <a:ahLst/>
              <a:cxnLst/>
              <a:rect r="r" b="b" t="t" l="l"/>
              <a:pathLst>
                <a:path h="121196" w="139501">
                  <a:moveTo>
                    <a:pt x="0" y="0"/>
                  </a:moveTo>
                  <a:lnTo>
                    <a:pt x="139501" y="0"/>
                  </a:lnTo>
                  <a:lnTo>
                    <a:pt x="139501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9501" cy="15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326667" y="5322220"/>
            <a:ext cx="6901554" cy="280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b="true" sz="2032" spc="4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violence/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frames/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frame_video_01.jpg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frame_video_02.jpg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frame_video_03.jpg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imagen_01.jpg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sz="2032" spc="4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   video_01.mp4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596676" y="8704307"/>
            <a:ext cx="515372" cy="532663"/>
            <a:chOff x="0" y="0"/>
            <a:chExt cx="117262" cy="1211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262" cy="121196"/>
            </a:xfrm>
            <a:custGeom>
              <a:avLst/>
              <a:gdLst/>
              <a:ahLst/>
              <a:cxnLst/>
              <a:rect r="r" b="b" t="t" l="l"/>
              <a:pathLst>
                <a:path h="121196" w="117262">
                  <a:moveTo>
                    <a:pt x="0" y="0"/>
                  </a:moveTo>
                  <a:lnTo>
                    <a:pt x="117262" y="0"/>
                  </a:lnTo>
                  <a:lnTo>
                    <a:pt x="117262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7262" cy="15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326667" y="8765542"/>
            <a:ext cx="5801338" cy="33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  <a:r>
              <a:rPr lang="en-US" b="true" sz="2032" spc="4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Etc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4184" y="3768449"/>
            <a:ext cx="613111" cy="532663"/>
            <a:chOff x="0" y="0"/>
            <a:chExt cx="139501" cy="121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501" cy="121196"/>
            </a:xfrm>
            <a:custGeom>
              <a:avLst/>
              <a:gdLst/>
              <a:ahLst/>
              <a:cxnLst/>
              <a:rect r="r" b="b" t="t" l="l"/>
              <a:pathLst>
                <a:path h="121196" w="139501">
                  <a:moveTo>
                    <a:pt x="0" y="0"/>
                  </a:moveTo>
                  <a:lnTo>
                    <a:pt x="139501" y="0"/>
                  </a:lnTo>
                  <a:lnTo>
                    <a:pt x="139501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9501" cy="15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95777" y="876348"/>
            <a:ext cx="8476683" cy="8473151"/>
          </a:xfrm>
          <a:custGeom>
            <a:avLst/>
            <a:gdLst/>
            <a:ahLst/>
            <a:cxnLst/>
            <a:rect r="r" b="b" t="t" l="l"/>
            <a:pathLst>
              <a:path h="8473151" w="8476683">
                <a:moveTo>
                  <a:pt x="0" y="0"/>
                </a:moveTo>
                <a:lnTo>
                  <a:pt x="8476683" y="0"/>
                </a:lnTo>
                <a:lnTo>
                  <a:pt x="8476683" y="8473151"/>
                </a:lnTo>
                <a:lnTo>
                  <a:pt x="0" y="8473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955786" y="-254854"/>
            <a:ext cx="4632524" cy="10815226"/>
            <a:chOff x="0" y="0"/>
            <a:chExt cx="1220089" cy="28484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0089" cy="2848455"/>
            </a:xfrm>
            <a:custGeom>
              <a:avLst/>
              <a:gdLst/>
              <a:ahLst/>
              <a:cxnLst/>
              <a:rect r="r" b="b" t="t" l="l"/>
              <a:pathLst>
                <a:path h="2848455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369574" y="8009482"/>
            <a:ext cx="7292928" cy="729292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64184" y="1611432"/>
            <a:ext cx="9707996" cy="76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42"/>
              </a:lnSpc>
              <a:spcBef>
                <a:spcPct val="0"/>
              </a:spcBef>
            </a:pPr>
            <a:r>
              <a:rPr lang="en-US" b="true" sz="5035" spc="18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Procesamiento del dataset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056178" y="-3901318"/>
            <a:ext cx="7292928" cy="729292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62527" y="1611432"/>
            <a:ext cx="7045278" cy="7045250"/>
            <a:chOff x="0" y="0"/>
            <a:chExt cx="6350000" cy="63499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5400000">
            <a:off x="11952046" y="3265440"/>
            <a:ext cx="7715094" cy="3707614"/>
          </a:xfrm>
          <a:custGeom>
            <a:avLst/>
            <a:gdLst/>
            <a:ahLst/>
            <a:cxnLst/>
            <a:rect r="r" b="b" t="t" l="l"/>
            <a:pathLst>
              <a:path h="3707614" w="771509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935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2413225" y="4268792"/>
            <a:ext cx="6901554" cy="139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737" indent="-219369" lvl="1">
              <a:lnSpc>
                <a:spcPts val="2844"/>
              </a:lnSpc>
              <a:buFont typeface="Arial"/>
              <a:buChar char="•"/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Script genérico</a:t>
            </a:r>
          </a:p>
          <a:p>
            <a:pPr algn="l" marL="438737" indent="-219369" lvl="1">
              <a:lnSpc>
                <a:spcPts val="2844"/>
              </a:lnSpc>
              <a:buFont typeface="Arial"/>
              <a:buChar char="•"/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Script masivo.</a:t>
            </a:r>
          </a:p>
          <a:p>
            <a:pPr algn="l">
              <a:lnSpc>
                <a:spcPts val="2844"/>
              </a:lnSpc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Para descargar imágenes de webs con</a:t>
            </a:r>
          </a:p>
          <a:p>
            <a:pPr algn="l">
              <a:lnSpc>
                <a:spcPts val="2844"/>
              </a:lnSpc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paginación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13225" y="3733365"/>
            <a:ext cx="5679073" cy="471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1"/>
              </a:lnSpc>
              <a:spcBef>
                <a:spcPct val="0"/>
              </a:spcBef>
            </a:pPr>
            <a:r>
              <a:rPr lang="en-US" b="true" sz="2829" spc="6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Script </a:t>
            </a:r>
            <a:r>
              <a:rPr lang="en-US" sz="2829" spc="6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para Web Scraping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64184" y="6815511"/>
            <a:ext cx="613111" cy="532663"/>
            <a:chOff x="0" y="0"/>
            <a:chExt cx="139501" cy="1211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501" cy="121196"/>
            </a:xfrm>
            <a:custGeom>
              <a:avLst/>
              <a:gdLst/>
              <a:ahLst/>
              <a:cxnLst/>
              <a:rect r="r" b="b" t="t" l="l"/>
              <a:pathLst>
                <a:path h="121196" w="139501">
                  <a:moveTo>
                    <a:pt x="0" y="0"/>
                  </a:moveTo>
                  <a:lnTo>
                    <a:pt x="139501" y="0"/>
                  </a:lnTo>
                  <a:lnTo>
                    <a:pt x="139501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9501" cy="15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413225" y="7318148"/>
            <a:ext cx="4953858" cy="69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737" indent="-219369" lvl="1">
              <a:lnSpc>
                <a:spcPts val="2844"/>
              </a:lnSpc>
              <a:buFont typeface="Arial"/>
              <a:buChar char="•"/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Validaciones de contenido</a:t>
            </a:r>
          </a:p>
          <a:p>
            <a:pPr algn="l" marL="438737" indent="-219369" lvl="1">
              <a:lnSpc>
                <a:spcPts val="2844"/>
              </a:lnSpc>
              <a:buFont typeface="Arial"/>
              <a:buChar char="•"/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Generación de CSV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13225" y="6780427"/>
            <a:ext cx="6627155" cy="471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1"/>
              </a:lnSpc>
              <a:spcBef>
                <a:spcPct val="0"/>
              </a:spcBef>
            </a:pPr>
            <a:r>
              <a:rPr lang="en-US" b="true" sz="2829" spc="6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Script </a:t>
            </a:r>
            <a:r>
              <a:rPr lang="en-US" sz="2829" spc="62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 limpieza e inventariado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97763" y="8610912"/>
            <a:ext cx="6546237" cy="33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 continuación ampliaremos sus fases...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092298" y="8649012"/>
            <a:ext cx="850856" cy="840027"/>
          </a:xfrm>
          <a:custGeom>
            <a:avLst/>
            <a:gdLst/>
            <a:ahLst/>
            <a:cxnLst/>
            <a:rect r="r" b="b" t="t" l="l"/>
            <a:pathLst>
              <a:path h="840027" w="850856">
                <a:moveTo>
                  <a:pt x="0" y="0"/>
                </a:moveTo>
                <a:lnTo>
                  <a:pt x="850855" y="0"/>
                </a:lnTo>
                <a:lnTo>
                  <a:pt x="850855" y="840027"/>
                </a:lnTo>
                <a:lnTo>
                  <a:pt x="0" y="8400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31041">
            <a:off x="13216914" y="-2949524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68074">
            <a:off x="13918097" y="4882637"/>
            <a:ext cx="8739806" cy="5324588"/>
            <a:chOff x="0" y="0"/>
            <a:chExt cx="2301842" cy="14023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1842" cy="1402361"/>
            </a:xfrm>
            <a:custGeom>
              <a:avLst/>
              <a:gdLst/>
              <a:ahLst/>
              <a:cxnLst/>
              <a:rect r="r" b="b" t="t" l="l"/>
              <a:pathLst>
                <a:path h="1402361" w="2301842">
                  <a:moveTo>
                    <a:pt x="0" y="0"/>
                  </a:moveTo>
                  <a:lnTo>
                    <a:pt x="2301842" y="0"/>
                  </a:lnTo>
                  <a:lnTo>
                    <a:pt x="2301842" y="1402361"/>
                  </a:lnTo>
                  <a:lnTo>
                    <a:pt x="0" y="1402361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01842" cy="1449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68074">
            <a:off x="15432242" y="6369777"/>
            <a:ext cx="4609127" cy="4873542"/>
            <a:chOff x="0" y="0"/>
            <a:chExt cx="1213926" cy="12835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3926" cy="1283567"/>
            </a:xfrm>
            <a:custGeom>
              <a:avLst/>
              <a:gdLst/>
              <a:ahLst/>
              <a:cxnLst/>
              <a:rect r="r" b="b" t="t" l="l"/>
              <a:pathLst>
                <a:path h="1283567" w="1213926">
                  <a:moveTo>
                    <a:pt x="0" y="0"/>
                  </a:moveTo>
                  <a:lnTo>
                    <a:pt x="1213926" y="0"/>
                  </a:lnTo>
                  <a:lnTo>
                    <a:pt x="1213926" y="1283567"/>
                  </a:lnTo>
                  <a:lnTo>
                    <a:pt x="0" y="12835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0D12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13926" cy="133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977613" y="0"/>
            <a:ext cx="7310387" cy="8224186"/>
            <a:chOff x="0" y="0"/>
            <a:chExt cx="5370413" cy="60417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A3D37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blipFill>
              <a:blip r:embed="rId4"/>
              <a:stretch>
                <a:fillRect l="-37040" t="0" r="-3704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4631988" y="8443977"/>
            <a:ext cx="5867617" cy="5867617"/>
          </a:xfrm>
          <a:custGeom>
            <a:avLst/>
            <a:gdLst/>
            <a:ahLst/>
            <a:cxnLst/>
            <a:rect r="r" b="b" t="t" l="l"/>
            <a:pathLst>
              <a:path h="5867617" w="5867617">
                <a:moveTo>
                  <a:pt x="0" y="0"/>
                </a:moveTo>
                <a:lnTo>
                  <a:pt x="5867617" y="0"/>
                </a:lnTo>
                <a:lnTo>
                  <a:pt x="5867617" y="5867617"/>
                </a:lnTo>
                <a:lnTo>
                  <a:pt x="0" y="58676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3313784" y="3995456"/>
            <a:ext cx="10903346" cy="498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Recorre cada carpeta de categoría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Genera </a:t>
            </a:r>
            <a:r>
              <a:rPr lang="en-US" b="true" sz="2899" i="true" spc="130">
                <a:solidFill>
                  <a:srgbClr val="2A2E3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frames </a:t>
            </a:r>
            <a:r>
              <a:rPr lang="en-US" sz="2899" i="true" spc="130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representativos,</a:t>
            </a:r>
            <a:r>
              <a:rPr lang="en-US" b="true" sz="2899" i="true" spc="130">
                <a:solidFill>
                  <a:srgbClr val="2A2E3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 encuentra vídeos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Elimina imágenes corruptas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Renombra imágenes</a:t>
            </a:r>
          </a:p>
          <a:p>
            <a:pPr algn="l">
              <a:lnSpc>
                <a:spcPts val="5770"/>
              </a:lnSpc>
            </a:pPr>
            <a:r>
              <a:rPr lang="en-US" b="true" sz="2899" i="true" spc="130">
                <a:solidFill>
                  <a:srgbClr val="2A2E3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Split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del contenido por cantidad (%train, %test y %val)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Genera CSV</a:t>
            </a:r>
          </a:p>
          <a:p>
            <a:pPr algn="l" marL="0" indent="0" lvl="0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Genera .zip del </a:t>
            </a:r>
            <a:r>
              <a:rPr lang="en-US" sz="2899" i="true" spc="130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dataset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41391" y="1592401"/>
            <a:ext cx="11404007" cy="214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7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Script de procesado de Dataset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88104" y="3995456"/>
            <a:ext cx="536972" cy="498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  <a:p>
            <a:pPr algn="l" marL="0" indent="0" lvl="0">
              <a:lnSpc>
                <a:spcPts val="5770"/>
              </a:lnSpc>
            </a:pPr>
            <a:r>
              <a:rPr lang="en-US" b="true" sz="2899" spc="130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2913734" y="4205006"/>
            <a:ext cx="0" cy="4776344"/>
          </a:xfrm>
          <a:prstGeom prst="line">
            <a:avLst/>
          </a:prstGeom>
          <a:ln cap="flat" w="38100">
            <a:solidFill>
              <a:srgbClr val="052A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2253123" y="7603950"/>
            <a:ext cx="850856" cy="840027"/>
          </a:xfrm>
          <a:custGeom>
            <a:avLst/>
            <a:gdLst/>
            <a:ahLst/>
            <a:cxnLst/>
            <a:rect r="r" b="b" t="t" l="l"/>
            <a:pathLst>
              <a:path h="840027" w="850856">
                <a:moveTo>
                  <a:pt x="0" y="0"/>
                </a:moveTo>
                <a:lnTo>
                  <a:pt x="850855" y="0"/>
                </a:lnTo>
                <a:lnTo>
                  <a:pt x="850855" y="840027"/>
                </a:lnTo>
                <a:lnTo>
                  <a:pt x="0" y="8400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06211" y="3369310"/>
            <a:ext cx="11839652" cy="56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spc="130" b="tru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Vídeos: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 cada vídeo se extraen 3 </a:t>
            </a:r>
            <a:r>
              <a:rPr lang="en-US" sz="2899" i="true" spc="130" strike="noStrike" u="none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frames 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 manera lógica con la librería </a:t>
            </a:r>
            <a:r>
              <a:rPr lang="en-US" b="true" sz="2899" spc="130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FFMPEG 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para ser clasificados como imágenes en el csv. 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La cantidad de vídeos en una categoría se divide en tres porciones (train: 0.8, val: 0.1 y test:0.1).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En este proceso se evita el </a:t>
            </a:r>
            <a:r>
              <a:rPr lang="en-US" b="true" sz="2899" i="true" spc="130" strike="noStrike" u="none">
                <a:solidFill>
                  <a:srgbClr val="2A2E3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data leakage</a:t>
            </a:r>
            <a:r>
              <a:rPr lang="en-US" sz="2899" i="true" spc="130" strike="noStrike" u="none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(la fuga de d</a:t>
            </a:r>
            <a:r>
              <a:rPr lang="en-US" b="true" sz="2899" i="true" spc="130" strike="noStrike" u="none">
                <a:solidFill>
                  <a:srgbClr val="2A2E3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atos)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asignado todos los frames de un mismo video a la etiqueta: train OR val OR test, y no repartiendo el vídeo entre ellas.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06211" y="1887110"/>
            <a:ext cx="10711219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Split del contenido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06211" y="4140835"/>
            <a:ext cx="11839652" cy="408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spc="130" b="tru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Imágenes: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ara las imágenes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 realizó el mismo </a:t>
            </a:r>
            <a:r>
              <a:rPr lang="en-US" b="true" sz="2899" i="true" spc="130" strike="noStrike" u="none">
                <a:solidFill>
                  <a:srgbClr val="2A2E3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split 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que para los </a:t>
            </a:r>
            <a:r>
              <a:rPr lang="en-US" sz="2899" i="true" spc="130" strike="noStrike" u="none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frames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según la cantidad de ellas por categoría, se dividen en porcentajes </a:t>
            </a:r>
            <a:r>
              <a:rPr lang="en-US" b="true" sz="2899" i="true" spc="130" strike="noStrike" u="none">
                <a:solidFill>
                  <a:srgbClr val="2A2E3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train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: 0.8, </a:t>
            </a:r>
            <a:r>
              <a:rPr lang="en-US" b="true" sz="2899" i="true" spc="130" strike="noStrike" u="none">
                <a:solidFill>
                  <a:srgbClr val="2A2E3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val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: 0.1, </a:t>
            </a:r>
            <a:r>
              <a:rPr lang="en-US" b="true" sz="2899" i="true" spc="130" strike="noStrike" u="none">
                <a:solidFill>
                  <a:srgbClr val="2A2E3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test</a:t>
            </a:r>
            <a:r>
              <a:rPr lang="en-US" sz="2899" spc="13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: 0.1 y finalmente agregando esta etiqueta en el inventario (fichero csv).</a:t>
            </a:r>
          </a:p>
          <a:p>
            <a:pPr algn="l">
              <a:lnSpc>
                <a:spcPts val="4059"/>
              </a:lnSpc>
            </a:pP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06211" y="1887110"/>
            <a:ext cx="980997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Split del contenido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53739"/>
            <a:chOff x="0" y="0"/>
            <a:chExt cx="4816593" cy="1067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67651"/>
            </a:xfrm>
            <a:custGeom>
              <a:avLst/>
              <a:gdLst/>
              <a:ahLst/>
              <a:cxnLst/>
              <a:rect r="r" b="b" t="t" l="l"/>
              <a:pathLst>
                <a:path h="10676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67651"/>
                  </a:lnTo>
                  <a:lnTo>
                    <a:pt x="0" y="1067651"/>
                  </a:lnTo>
                  <a:close/>
                </a:path>
              </a:pathLst>
            </a:custGeom>
            <a:solidFill>
              <a:srgbClr val="05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15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4053739"/>
          </a:xfrm>
          <a:custGeom>
            <a:avLst/>
            <a:gdLst/>
            <a:ahLst/>
            <a:cxnLst/>
            <a:rect r="r" b="b" t="t" l="l"/>
            <a:pathLst>
              <a:path h="4053739" w="18288000">
                <a:moveTo>
                  <a:pt x="0" y="0"/>
                </a:moveTo>
                <a:lnTo>
                  <a:pt x="18288000" y="0"/>
                </a:lnTo>
                <a:lnTo>
                  <a:pt x="18288000" y="4053739"/>
                </a:lnTo>
                <a:lnTo>
                  <a:pt x="0" y="4053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-25349" r="0" b="-17522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96611" y="2128857"/>
            <a:ext cx="9500456" cy="102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10"/>
              </a:lnSpc>
              <a:spcBef>
                <a:spcPct val="0"/>
              </a:spcBef>
            </a:pPr>
            <a:r>
              <a:rPr lang="en-US" b="true" sz="6675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Formato del CSV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74818" y="-2586212"/>
            <a:ext cx="9619282" cy="5963955"/>
          </a:xfrm>
          <a:custGeom>
            <a:avLst/>
            <a:gdLst/>
            <a:ahLst/>
            <a:cxnLst/>
            <a:rect r="r" b="b" t="t" l="l"/>
            <a:pathLst>
              <a:path h="5963955" w="9619282">
                <a:moveTo>
                  <a:pt x="0" y="0"/>
                </a:moveTo>
                <a:lnTo>
                  <a:pt x="9619282" y="0"/>
                </a:lnTo>
                <a:lnTo>
                  <a:pt x="9619282" y="5963954"/>
                </a:lnTo>
                <a:lnTo>
                  <a:pt x="0" y="5963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345096" y="-1016743"/>
            <a:ext cx="5903940" cy="3660443"/>
          </a:xfrm>
          <a:custGeom>
            <a:avLst/>
            <a:gdLst/>
            <a:ahLst/>
            <a:cxnLst/>
            <a:rect r="r" b="b" t="t" l="l"/>
            <a:pathLst>
              <a:path h="3660443" w="5903940">
                <a:moveTo>
                  <a:pt x="0" y="0"/>
                </a:moveTo>
                <a:lnTo>
                  <a:pt x="5903940" y="0"/>
                </a:lnTo>
                <a:lnTo>
                  <a:pt x="5903940" y="3660443"/>
                </a:lnTo>
                <a:lnTo>
                  <a:pt x="0" y="3660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10211" y="5527585"/>
            <a:ext cx="17067579" cy="2965492"/>
          </a:xfrm>
          <a:custGeom>
            <a:avLst/>
            <a:gdLst/>
            <a:ahLst/>
            <a:cxnLst/>
            <a:rect r="r" b="b" t="t" l="l"/>
            <a:pathLst>
              <a:path h="2965492" w="17067579">
                <a:moveTo>
                  <a:pt x="0" y="0"/>
                </a:moveTo>
                <a:lnTo>
                  <a:pt x="17067578" y="0"/>
                </a:lnTo>
                <a:lnTo>
                  <a:pt x="17067578" y="2965492"/>
                </a:lnTo>
                <a:lnTo>
                  <a:pt x="0" y="29654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1334035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721907">
            <a:off x="12368708" y="-1158327"/>
            <a:ext cx="8981737" cy="13081995"/>
            <a:chOff x="0" y="0"/>
            <a:chExt cx="2365560" cy="34454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65560" cy="3445464"/>
            </a:xfrm>
            <a:custGeom>
              <a:avLst/>
              <a:gdLst/>
              <a:ahLst/>
              <a:cxnLst/>
              <a:rect r="r" b="b" t="t" l="l"/>
              <a:pathLst>
                <a:path h="3445464" w="2365560">
                  <a:moveTo>
                    <a:pt x="0" y="0"/>
                  </a:moveTo>
                  <a:lnTo>
                    <a:pt x="2365560" y="0"/>
                  </a:lnTo>
                  <a:lnTo>
                    <a:pt x="2365560" y="3445464"/>
                  </a:lnTo>
                  <a:lnTo>
                    <a:pt x="0" y="3445464"/>
                  </a:lnTo>
                  <a:close/>
                </a:path>
              </a:pathLst>
            </a:custGeom>
            <a:solidFill>
              <a:srgbClr val="05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65560" cy="3493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259441" y="2611428"/>
            <a:ext cx="8522879" cy="7027824"/>
          </a:xfrm>
          <a:custGeom>
            <a:avLst/>
            <a:gdLst/>
            <a:ahLst/>
            <a:cxnLst/>
            <a:rect r="r" b="b" t="t" l="l"/>
            <a:pathLst>
              <a:path h="7027824" w="8522879">
                <a:moveTo>
                  <a:pt x="0" y="0"/>
                </a:moveTo>
                <a:lnTo>
                  <a:pt x="8522879" y="0"/>
                </a:lnTo>
                <a:lnTo>
                  <a:pt x="8522879" y="7027824"/>
                </a:lnTo>
                <a:lnTo>
                  <a:pt x="0" y="7027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9131592" y="1993396"/>
            <a:ext cx="6778577" cy="6778550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-25046" t="0" r="-250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880083" y="-1412741"/>
            <a:ext cx="2758717" cy="275871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38150" cap="sq">
              <a:solidFill>
                <a:srgbClr val="4DBF3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81580" y="2391937"/>
            <a:ext cx="6345142" cy="80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39"/>
              </a:lnSpc>
              <a:spcBef>
                <a:spcPct val="0"/>
              </a:spcBef>
            </a:pPr>
            <a:r>
              <a:rPr lang="en-US" b="true" sz="5282" spc="19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261124"/>
            <a:ext cx="7720955" cy="568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520" indent="-266760" lvl="1">
              <a:lnSpc>
                <a:spcPts val="3459"/>
              </a:lnSpc>
              <a:buFont typeface="Arial"/>
              <a:buChar char="•"/>
            </a:pPr>
            <a:r>
              <a:rPr lang="en-US" sz="2471" spc="1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Notebook de Google Colab haciendo uso de GPU.</a:t>
            </a:r>
          </a:p>
          <a:p>
            <a:pPr algn="l" marL="533520" indent="-266760" lvl="1">
              <a:lnSpc>
                <a:spcPts val="3459"/>
              </a:lnSpc>
              <a:buFont typeface="Arial"/>
              <a:buChar char="•"/>
            </a:pPr>
            <a:r>
              <a:rPr lang="en-US" sz="2471" spc="1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Tecnología Transfer Learning</a:t>
            </a:r>
          </a:p>
          <a:p>
            <a:pPr algn="l" marL="533520" indent="-266760" lvl="1">
              <a:lnSpc>
                <a:spcPts val="3459"/>
              </a:lnSpc>
              <a:buFont typeface="Arial"/>
              <a:buChar char="•"/>
            </a:pPr>
            <a:r>
              <a:rPr lang="en-US" sz="2471" spc="1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CNN EfficientNetB3 (modelo preentrenado)</a:t>
            </a:r>
          </a:p>
          <a:p>
            <a:pPr algn="l" marL="533520" indent="-266760" lvl="1">
              <a:lnSpc>
                <a:spcPts val="3459"/>
              </a:lnSpc>
              <a:buFont typeface="Arial"/>
              <a:buChar char="•"/>
            </a:pPr>
            <a:r>
              <a:rPr lang="en-US" b="true" sz="2471" spc="11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Fase 1</a:t>
            </a:r>
            <a:r>
              <a:rPr lang="en-US" sz="2471" spc="1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: construcción del modelo con EfficientNetB3 y Congelar la base convolucional inicial (se entrenó solo la cabeza).</a:t>
            </a:r>
          </a:p>
          <a:p>
            <a:pPr algn="l" marL="533520" indent="-266760" lvl="1">
              <a:lnSpc>
                <a:spcPts val="3459"/>
              </a:lnSpc>
              <a:buFont typeface="Arial"/>
              <a:buChar char="•"/>
            </a:pPr>
            <a:r>
              <a:rPr lang="en-US" b="true" sz="2471" spc="11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Fase 2</a:t>
            </a:r>
            <a:r>
              <a:rPr lang="en-US" sz="2471" spc="1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: el fine-tuning, evaluación, visualización de resultados y batería de pruebas.</a:t>
            </a:r>
          </a:p>
          <a:p>
            <a:pPr algn="l">
              <a:lnSpc>
                <a:spcPts val="3459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-1124737" y="8771946"/>
            <a:ext cx="2606317" cy="260631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04825" cap="sq">
              <a:solidFill>
                <a:srgbClr val="80D12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88824" y="1206976"/>
            <a:ext cx="13270663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¿Por qué EfficientNetB3?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88824" y="2597785"/>
            <a:ext cx="11839652" cy="768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Se trata de un modelo CNN de la variante de </a:t>
            </a:r>
            <a:r>
              <a:rPr lang="en-US" sz="2899" i="true" spc="130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EfficientNetB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preentrenada con más de un millón de imágenes de la base de datos de </a:t>
            </a:r>
            <a:r>
              <a:rPr lang="en-US" sz="2899" i="true" spc="130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ImageNet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Orientado a la 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clasificación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 detección de patrones a partir de 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imágenes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vídeos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Puede clasificar imágenes en 1000 categorías de objetos (por ejemplo, teclado, ratón, lápiz y muchos animales).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Ahorro de tiempo en entrenamiento al ser 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eficiente, precisa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y 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rápida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gracias al “escalado compuesto”.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Funciona mejor que los modelos antiguos 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ResNet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DenseNet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utilizando menos memoria.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Sirve como base para el fine-tuning (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transfer learning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>
              <a:lnSpc>
                <a:spcPts val="4059"/>
              </a:lnSpc>
            </a:pP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71921" y="1518125"/>
            <a:ext cx="11756555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 EfficientNetB3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154778" y="3379972"/>
            <a:ext cx="9279796" cy="5616051"/>
          </a:xfrm>
          <a:custGeom>
            <a:avLst/>
            <a:gdLst/>
            <a:ahLst/>
            <a:cxnLst/>
            <a:rect r="r" b="b" t="t" l="l"/>
            <a:pathLst>
              <a:path h="5616051" w="9279796">
                <a:moveTo>
                  <a:pt x="0" y="0"/>
                </a:moveTo>
                <a:lnTo>
                  <a:pt x="9279796" y="0"/>
                </a:lnTo>
                <a:lnTo>
                  <a:pt x="9279796" y="5616051"/>
                </a:lnTo>
                <a:lnTo>
                  <a:pt x="0" y="56160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112135"/>
            <a:ext cx="12289590" cy="614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En los '</a:t>
            </a:r>
            <a:r>
              <a:rPr lang="en-US" b="true" sz="2899" i="true" spc="130">
                <a:solidFill>
                  <a:srgbClr val="2A2E3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Gerators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' (para escalado y normalización), se hizo uso del método </a:t>
            </a:r>
            <a:r>
              <a:rPr lang="en-US" sz="2899" i="true" spc="130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flow_from_dataframe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(el cual convierte automaticamente las categorías string en one-hot), para acceder directamente al csv y obtener las imágenes según ruta relativa.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i="true" spc="130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 Aumentation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para mejorar la variabilidad y balancear las clases minoritarias.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Fase 1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: se congela la base convolucional y se entrena la cabeza con las primeras 25 épocas.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Fase 2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: se congelan las primeras 25 capas y se entrenan las últimas 50 de las 65.</a:t>
            </a:r>
          </a:p>
          <a:p>
            <a:pPr algn="l">
              <a:lnSpc>
                <a:spcPts val="40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71921" y="151812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Entrenamiento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626360"/>
            <a:ext cx="5717289" cy="717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Dataset total: 14862 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80% para train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10% para val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10% para test), 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Train samples: 11887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Val samples: 1486 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Test samples: 1489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target_size=(300,300)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class_mo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de=categorical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Initial epochs: 25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Batch size: 64 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Clases: 6 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Train steps: 186 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Val steps: 24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4319" y="1312265"/>
            <a:ext cx="14341410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Métricas del Entrenamiento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998149" y="2626360"/>
            <a:ext cx="5540527" cy="666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Capa dense final con activation='softmax'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preprocess_input, solo en train y val para normalización de píxeles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Callbaks: 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-ModelCheckpoint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*EarlyStopping 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-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ReduceLROnPlateau 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Class weights para balancear los pesos</a:t>
            </a:r>
          </a:p>
          <a:p>
            <a:pPr algn="l">
              <a:lnSpc>
                <a:spcPts val="4059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821832"/>
            <a:ext cx="11759306" cy="203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Última t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rain acc: 0.9860624074935913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Última v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al acc: 0.9495444893836975</a:t>
            </a:r>
          </a:p>
          <a:p>
            <a:pPr algn="ctr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Eva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lua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ción en test: Test loss: 0.1575 | Test acc: 94.88%</a:t>
            </a:r>
          </a:p>
          <a:p>
            <a:pPr algn="ctr">
              <a:lnSpc>
                <a:spcPts val="4059"/>
              </a:lnSpc>
            </a:pP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ACCURACY: 95%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921" y="151812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09763" y="5030343"/>
            <a:ext cx="11301259" cy="5014934"/>
          </a:xfrm>
          <a:custGeom>
            <a:avLst/>
            <a:gdLst/>
            <a:ahLst/>
            <a:cxnLst/>
            <a:rect r="r" b="b" t="t" l="l"/>
            <a:pathLst>
              <a:path h="5014934" w="11301259">
                <a:moveTo>
                  <a:pt x="0" y="0"/>
                </a:moveTo>
                <a:lnTo>
                  <a:pt x="11301259" y="0"/>
                </a:lnTo>
                <a:lnTo>
                  <a:pt x="11301259" y="5014934"/>
                </a:lnTo>
                <a:lnTo>
                  <a:pt x="0" y="5014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24479" y="2790819"/>
            <a:ext cx="13559056" cy="6146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Aumento de la variabilidad en la categoría 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(clase positiva)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Aumento de la variabilidad en la categoría 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VIOLENCE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Confusiones entre Clases 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-Violence y Sexual (mujeres sometidas, abrazos, etc)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-Drugs y Safe (alimentos, productos, comidas, plantas, etc)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-Weaponse y War (soldados, policías y armas)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-War y Safe (imágenes a blanco y negro, paisajes, demoliciones,</a:t>
            </a:r>
          </a:p>
          <a:p>
            <a:pPr algn="l">
              <a:lnSpc>
                <a:spcPts val="4059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     construcciones, etc)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Falsos positivos (contextos informativos)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Problemas con el formato 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.h5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de los modelos, fue necesario guardarlos en </a:t>
            </a:r>
            <a:r>
              <a:rPr lang="en-US" b="true" sz="2899" spc="13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.keras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Eliminar el método </a:t>
            </a:r>
            <a:r>
              <a:rPr lang="en-US" sz="2899" i="true" spc="130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EarlyStopping 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en los </a:t>
            </a:r>
            <a:r>
              <a:rPr lang="en-US" sz="2899" i="true" spc="130">
                <a:solidFill>
                  <a:srgbClr val="2A2E3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callbacks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921" y="1518125"/>
            <a:ext cx="9215417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643906"/>
            <a:ext cx="5251282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Muestras de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aciert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921" y="1518125"/>
            <a:ext cx="11320481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Batería de pruebas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00790" y="3593544"/>
            <a:ext cx="11301259" cy="5664756"/>
          </a:xfrm>
          <a:custGeom>
            <a:avLst/>
            <a:gdLst/>
            <a:ahLst/>
            <a:cxnLst/>
            <a:rect r="r" b="b" t="t" l="l"/>
            <a:pathLst>
              <a:path h="5664756" w="11301259">
                <a:moveTo>
                  <a:pt x="0" y="0"/>
                </a:moveTo>
                <a:lnTo>
                  <a:pt x="11301259" y="0"/>
                </a:lnTo>
                <a:lnTo>
                  <a:pt x="11301259" y="5664756"/>
                </a:lnTo>
                <a:lnTo>
                  <a:pt x="0" y="56647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643906"/>
            <a:ext cx="5251282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Muestras de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aciert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921" y="1518125"/>
            <a:ext cx="11320481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Batería de pruebas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00790" y="3567426"/>
            <a:ext cx="11301259" cy="5495237"/>
          </a:xfrm>
          <a:custGeom>
            <a:avLst/>
            <a:gdLst/>
            <a:ahLst/>
            <a:cxnLst/>
            <a:rect r="r" b="b" t="t" l="l"/>
            <a:pathLst>
              <a:path h="5495237" w="11301259">
                <a:moveTo>
                  <a:pt x="0" y="0"/>
                </a:moveTo>
                <a:lnTo>
                  <a:pt x="11301259" y="0"/>
                </a:lnTo>
                <a:lnTo>
                  <a:pt x="11301259" y="5495237"/>
                </a:lnTo>
                <a:lnTo>
                  <a:pt x="0" y="5495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643906"/>
            <a:ext cx="6745717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Muestras de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falsos positivos</a:t>
            </a: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921" y="1518125"/>
            <a:ext cx="11320481" cy="107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Batería de pruebas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00790" y="3551164"/>
            <a:ext cx="11301259" cy="5707136"/>
          </a:xfrm>
          <a:custGeom>
            <a:avLst/>
            <a:gdLst/>
            <a:ahLst/>
            <a:cxnLst/>
            <a:rect r="r" b="b" t="t" l="l"/>
            <a:pathLst>
              <a:path h="5707136" w="11301259">
                <a:moveTo>
                  <a:pt x="0" y="0"/>
                </a:moveTo>
                <a:lnTo>
                  <a:pt x="11301259" y="0"/>
                </a:lnTo>
                <a:lnTo>
                  <a:pt x="11301259" y="5707136"/>
                </a:lnTo>
                <a:lnTo>
                  <a:pt x="0" y="5707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0" y="-18713"/>
            <a:ext cx="15072368" cy="11372786"/>
          </a:xfrm>
          <a:custGeom>
            <a:avLst/>
            <a:gdLst/>
            <a:ahLst/>
            <a:cxnLst/>
            <a:rect r="r" b="b" t="t" l="l"/>
            <a:pathLst>
              <a:path h="11372786" w="15072368">
                <a:moveTo>
                  <a:pt x="15072368" y="0"/>
                </a:moveTo>
                <a:lnTo>
                  <a:pt x="0" y="0"/>
                </a:lnTo>
                <a:lnTo>
                  <a:pt x="0" y="11372787"/>
                </a:lnTo>
                <a:lnTo>
                  <a:pt x="15072368" y="11372787"/>
                </a:lnTo>
                <a:lnTo>
                  <a:pt x="150723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08341" y="698779"/>
            <a:ext cx="775262" cy="895177"/>
          </a:xfrm>
          <a:custGeom>
            <a:avLst/>
            <a:gdLst/>
            <a:ahLst/>
            <a:cxnLst/>
            <a:rect r="r" b="b" t="t" l="l"/>
            <a:pathLst>
              <a:path h="895177" w="775262">
                <a:moveTo>
                  <a:pt x="0" y="0"/>
                </a:moveTo>
                <a:lnTo>
                  <a:pt x="775262" y="0"/>
                </a:lnTo>
                <a:lnTo>
                  <a:pt x="775262" y="895177"/>
                </a:lnTo>
                <a:lnTo>
                  <a:pt x="0" y="895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75532" y="1287928"/>
            <a:ext cx="7129074" cy="77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38"/>
              </a:lnSpc>
              <a:spcBef>
                <a:spcPct val="0"/>
              </a:spcBef>
            </a:pPr>
            <a:r>
              <a:rPr lang="en-US" b="true" sz="5115" spc="18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2231" y="3076603"/>
            <a:ext cx="8173572" cy="37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4"/>
              </a:lnSpc>
              <a:spcBef>
                <a:spcPct val="0"/>
              </a:spcBef>
            </a:pPr>
            <a:r>
              <a:rPr lang="en-US" sz="2210" spc="99" u="sng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hlinkClick r:id="rId7" tooltip="https://explicit-content-classifier.streamlit.app"/>
              </a:rPr>
              <a:t>https://explicit-content-classifier.streamlit.app/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5532" y="2566329"/>
            <a:ext cx="2963778" cy="49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 spc="125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Producción: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32644" y="1852676"/>
            <a:ext cx="1726656" cy="33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250" spc="87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Nodd3r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978476">
            <a:off x="9374032" y="-98587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29040" y="-450102"/>
            <a:ext cx="9607786" cy="11487702"/>
            <a:chOff x="0" y="0"/>
            <a:chExt cx="8603361" cy="102867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solidFill>
              <a:srgbClr val="052A4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292044" y="-1200702"/>
            <a:ext cx="9607786" cy="11487702"/>
            <a:chOff x="0" y="0"/>
            <a:chExt cx="8603361" cy="102867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blipFill>
              <a:blip r:embed="rId4">
                <a:alphaModFix amt="88000"/>
              </a:blip>
              <a:stretch>
                <a:fillRect l="0" t="-8037" r="-112664" b="-1046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639058"/>
            <a:ext cx="8637689" cy="80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392"/>
              </a:lnSpc>
              <a:spcBef>
                <a:spcPct val="0"/>
              </a:spcBef>
            </a:pPr>
            <a:r>
              <a:rPr lang="en-US" b="true" sz="5327" spc="19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Trabajo a futuro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8696" y="3759711"/>
            <a:ext cx="173089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00"/>
              </a:lnSpc>
              <a:spcBef>
                <a:spcPct val="0"/>
              </a:spcBef>
            </a:pPr>
            <a:r>
              <a:rPr lang="en-US" b="true" sz="9750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8696" y="5741683"/>
            <a:ext cx="173089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00"/>
              </a:lnSpc>
              <a:spcBef>
                <a:spcPct val="0"/>
              </a:spcBef>
            </a:pPr>
            <a:r>
              <a:rPr lang="en-US" b="true" sz="9750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8696" y="7626460"/>
            <a:ext cx="173089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00"/>
              </a:lnSpc>
              <a:spcBef>
                <a:spcPct val="0"/>
              </a:spcBef>
            </a:pPr>
            <a:r>
              <a:rPr lang="en-US" b="true" sz="9750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9591" y="3392999"/>
            <a:ext cx="7861744" cy="245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737" indent="-219369" lvl="1">
              <a:lnSpc>
                <a:spcPts val="2844"/>
              </a:lnSpc>
              <a:buFont typeface="Arial"/>
              <a:buChar char="•"/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Detección y transcripción de Texto en imágenes o vídeos.</a:t>
            </a:r>
          </a:p>
          <a:p>
            <a:pPr algn="l" marL="438737" indent="-219369" lvl="1">
              <a:lnSpc>
                <a:spcPts val="2844"/>
              </a:lnSpc>
              <a:buFont typeface="Arial"/>
              <a:buChar char="•"/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Detección de discurso de odio mediante PLN.</a:t>
            </a:r>
          </a:p>
          <a:p>
            <a:pPr algn="l" marL="438737" indent="-219369" lvl="1">
              <a:lnSpc>
                <a:spcPts val="2844"/>
              </a:lnSpc>
              <a:buFont typeface="Arial"/>
              <a:buChar char="•"/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Detección de contenido que incite al uso o promoción de drogas.</a:t>
            </a:r>
          </a:p>
          <a:p>
            <a:pPr algn="l" marL="438737" indent="-219369" lvl="1">
              <a:lnSpc>
                <a:spcPts val="2844"/>
              </a:lnSpc>
              <a:buFont typeface="Arial"/>
              <a:buChar char="•"/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Análisis de sentimientos.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744831" y="5983667"/>
            <a:ext cx="6901554" cy="139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737" indent="-219369" lvl="1">
              <a:lnSpc>
                <a:spcPts val="2844"/>
              </a:lnSpc>
              <a:buFont typeface="Arial"/>
              <a:buChar char="•"/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Detección de Deepfakes no consentido.</a:t>
            </a:r>
          </a:p>
          <a:p>
            <a:pPr algn="l" marL="438737" indent="-219369" lvl="1">
              <a:lnSpc>
                <a:spcPts val="2844"/>
              </a:lnSpc>
              <a:buFont typeface="Arial"/>
              <a:buChar char="•"/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Detección de suplantación de identidad de personajes públicos.</a:t>
            </a:r>
          </a:p>
          <a:p>
            <a:pPr algn="l" marL="0" indent="0" lvl="0">
              <a:lnSpc>
                <a:spcPts val="284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744831" y="8004693"/>
            <a:ext cx="6901554" cy="69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737" indent="-219369" lvl="1">
              <a:lnSpc>
                <a:spcPts val="2844"/>
              </a:lnSpc>
              <a:buFont typeface="Arial"/>
              <a:buChar char="•"/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Reconocimiento de señales o gestos en tiempo real a través de cámara.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4964334" y="-5294263"/>
            <a:ext cx="6449593" cy="9554097"/>
            <a:chOff x="0" y="0"/>
            <a:chExt cx="812800" cy="1204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47625"/>
              <a:ext cx="558800" cy="1251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1339" y="2668328"/>
            <a:ext cx="8605046" cy="33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Crear una </a:t>
            </a:r>
            <a:r>
              <a:rPr lang="en-US" b="true" sz="2032" spc="4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cadena híbrida</a:t>
            </a:r>
            <a:r>
              <a:rPr lang="en-US" sz="2032" spc="4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con los siguientes elementos: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5446278" y="-1685650"/>
            <a:ext cx="6145089" cy="7288971"/>
            <a:chOff x="0" y="0"/>
            <a:chExt cx="1618460" cy="1919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18460" cy="1967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1941502" y="839372"/>
            <a:ext cx="9619282" cy="5963955"/>
          </a:xfrm>
          <a:custGeom>
            <a:avLst/>
            <a:gdLst/>
            <a:ahLst/>
            <a:cxnLst/>
            <a:rect r="r" b="b" t="t" l="l"/>
            <a:pathLst>
              <a:path h="5963955" w="9619282">
                <a:moveTo>
                  <a:pt x="0" y="0"/>
                </a:moveTo>
                <a:lnTo>
                  <a:pt x="9619281" y="0"/>
                </a:lnTo>
                <a:lnTo>
                  <a:pt x="9619281" y="5963955"/>
                </a:lnTo>
                <a:lnTo>
                  <a:pt x="0" y="5963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8117627">
            <a:off x="-3075279" y="6921441"/>
            <a:ext cx="4145058" cy="4916643"/>
            <a:chOff x="0" y="0"/>
            <a:chExt cx="1618460" cy="1919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8460" cy="1919729"/>
            </a:xfrm>
            <a:custGeom>
              <a:avLst/>
              <a:gdLst/>
              <a:ahLst/>
              <a:cxnLst/>
              <a:rect r="r" b="b" t="t" l="l"/>
              <a:pathLst>
                <a:path h="1919729" w="1618460">
                  <a:moveTo>
                    <a:pt x="0" y="0"/>
                  </a:moveTo>
                  <a:lnTo>
                    <a:pt x="1618460" y="0"/>
                  </a:lnTo>
                  <a:lnTo>
                    <a:pt x="1618460" y="1919729"/>
                  </a:lnTo>
                  <a:lnTo>
                    <a:pt x="0" y="1919729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18460" cy="1967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382372">
            <a:off x="-3048223" y="6118130"/>
            <a:ext cx="6488511" cy="4022877"/>
          </a:xfrm>
          <a:custGeom>
            <a:avLst/>
            <a:gdLst/>
            <a:ahLst/>
            <a:cxnLst/>
            <a:rect r="r" b="b" t="t" l="l"/>
            <a:pathLst>
              <a:path h="4022877" w="6488511">
                <a:moveTo>
                  <a:pt x="0" y="0"/>
                </a:moveTo>
                <a:lnTo>
                  <a:pt x="6488511" y="0"/>
                </a:lnTo>
                <a:lnTo>
                  <a:pt x="6488511" y="4022877"/>
                </a:lnTo>
                <a:lnTo>
                  <a:pt x="0" y="402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3594083" y="7721562"/>
            <a:ext cx="2901784" cy="782439"/>
            <a:chOff x="0" y="0"/>
            <a:chExt cx="704842" cy="1900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842" cy="190054"/>
            </a:xfrm>
            <a:custGeom>
              <a:avLst/>
              <a:gdLst/>
              <a:ahLst/>
              <a:cxnLst/>
              <a:rect r="r" b="b" t="t" l="l"/>
              <a:pathLst>
                <a:path h="190054" w="704842">
                  <a:moveTo>
                    <a:pt x="0" y="0"/>
                  </a:moveTo>
                  <a:lnTo>
                    <a:pt x="704842" y="0"/>
                  </a:lnTo>
                  <a:lnTo>
                    <a:pt x="704842" y="190054"/>
                  </a:lnTo>
                  <a:lnTo>
                    <a:pt x="0" y="190054"/>
                  </a:lnTo>
                  <a:close/>
                </a:path>
              </a:pathLst>
            </a:custGeom>
            <a:solidFill>
              <a:srgbClr val="05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04842" cy="237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796302" y="6143792"/>
            <a:ext cx="447187" cy="447187"/>
          </a:xfrm>
          <a:custGeom>
            <a:avLst/>
            <a:gdLst/>
            <a:ahLst/>
            <a:cxnLst/>
            <a:rect r="r" b="b" t="t" l="l"/>
            <a:pathLst>
              <a:path h="447187" w="447187">
                <a:moveTo>
                  <a:pt x="0" y="0"/>
                </a:moveTo>
                <a:lnTo>
                  <a:pt x="447187" y="0"/>
                </a:lnTo>
                <a:lnTo>
                  <a:pt x="447187" y="447187"/>
                </a:lnTo>
                <a:lnTo>
                  <a:pt x="0" y="447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269695" y="977846"/>
            <a:ext cx="885528" cy="1022498"/>
          </a:xfrm>
          <a:custGeom>
            <a:avLst/>
            <a:gdLst/>
            <a:ahLst/>
            <a:cxnLst/>
            <a:rect r="r" b="b" t="t" l="l"/>
            <a:pathLst>
              <a:path h="1022498" w="885528">
                <a:moveTo>
                  <a:pt x="0" y="0"/>
                </a:moveTo>
                <a:lnTo>
                  <a:pt x="885528" y="0"/>
                </a:lnTo>
                <a:lnTo>
                  <a:pt x="885528" y="1022498"/>
                </a:lnTo>
                <a:lnTo>
                  <a:pt x="0" y="10224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603136" y="4894091"/>
            <a:ext cx="2883677" cy="2827471"/>
          </a:xfrm>
          <a:custGeom>
            <a:avLst/>
            <a:gdLst/>
            <a:ahLst/>
            <a:cxnLst/>
            <a:rect r="r" b="b" t="t" l="l"/>
            <a:pathLst>
              <a:path h="2827471" w="2883677">
                <a:moveTo>
                  <a:pt x="0" y="0"/>
                </a:moveTo>
                <a:lnTo>
                  <a:pt x="2883678" y="0"/>
                </a:lnTo>
                <a:lnTo>
                  <a:pt x="2883678" y="2827471"/>
                </a:lnTo>
                <a:lnTo>
                  <a:pt x="0" y="28274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93" r="0" b="-99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94083" y="4117962"/>
            <a:ext cx="8304859" cy="86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863"/>
              </a:lnSpc>
              <a:spcBef>
                <a:spcPct val="0"/>
              </a:spcBef>
            </a:pPr>
            <a:r>
              <a:rPr lang="en-US" b="true" sz="5719" spc="205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81807" y="6254440"/>
            <a:ext cx="2571732" cy="22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  <a:spcBef>
                <a:spcPct val="0"/>
              </a:spcBef>
            </a:pPr>
            <a:r>
              <a:rPr lang="en-US" sz="1325">
                <a:solidFill>
                  <a:srgbClr val="322F50"/>
                </a:solidFill>
                <a:latin typeface="Montserrat"/>
                <a:ea typeface="Montserrat"/>
                <a:cs typeface="Montserrat"/>
                <a:sym typeface="Montserrat"/>
              </a:rPr>
              <a:t>afrancco@gmail.com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47544" y="7976947"/>
            <a:ext cx="2194861" cy="35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4"/>
              </a:lnSpc>
              <a:spcBef>
                <a:spcPct val="0"/>
              </a:spcBef>
            </a:pPr>
            <a:r>
              <a:rPr lang="en-US" sz="2060">
                <a:solidFill>
                  <a:srgbClr val="FFFBFB"/>
                </a:solidFill>
                <a:latin typeface="Arimo"/>
                <a:ea typeface="Arimo"/>
                <a:cs typeface="Arimo"/>
                <a:sym typeface="Arimo"/>
              </a:rPr>
              <a:t>Andrés Franco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9695" y="2124285"/>
            <a:ext cx="8149287" cy="156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389"/>
              </a:lnSpc>
              <a:spcBef>
                <a:spcPct val="0"/>
              </a:spcBef>
            </a:pPr>
            <a:r>
              <a:rPr lang="en-US" b="true" sz="10324" spc="37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Gracias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79240" y="1265723"/>
            <a:ext cx="1972239" cy="38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1"/>
              </a:lnSpc>
            </a:pPr>
            <a:r>
              <a:rPr lang="en-US" sz="2570" spc="10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Nodd3r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DAG7BVztEAo</dc:identifier>
  <dcterms:modified xsi:type="dcterms:W3CDTF">2011-08-01T06:04:30Z</dcterms:modified>
  <cp:revision>1</cp:revision>
  <dc:title>Proyecto final</dc:title>
</cp:coreProperties>
</file>